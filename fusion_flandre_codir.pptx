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57200"/>
            <a:ext cx="137160" cy="201168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48640"/>
            <a:ext cx="73152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FFD166"/>
                </a:solidFill>
                <a:latin typeface="Calibri"/>
              </a:rPr>
              <a:t>DOSSIER CODIR — RÉGION FLANDRE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97280"/>
            <a:ext cx="10972800" cy="1463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Calibri"/>
              </a:rPr>
              <a:t>Regroupement </a:t>
            </a:r>
            <a:r>
              <a:rPr sz="4400" b="1">
                <a:solidFill>
                  <a:srgbClr val="FFD166"/>
                </a:solidFill>
                <a:latin typeface="Calibri"/>
              </a:rPr>
              <a:t>Noriap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06D6A0"/>
                </a:solidFill>
                <a:latin typeface="Calibri"/>
              </a:rPr>
              <a:t>Unéal</a:t>
            </a:r>
            <a:r>
              <a:rPr sz="4400" b="1">
                <a:solidFill>
                  <a:srgbClr val="FFFFFF"/>
                </a:solidFill>
                <a:latin typeface="Calibri"/>
              </a:rPr>
              <a:t> × </a:t>
            </a:r>
            <a:r>
              <a:rPr sz="4400" b="1">
                <a:solidFill>
                  <a:srgbClr val="7EB6FF"/>
                </a:solidFill>
                <a:latin typeface="Calibri"/>
              </a:rPr>
              <a:t>Ternoveo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468880"/>
            <a:ext cx="109728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Calibri"/>
              </a:rPr>
              <a:t>Rationalisation des sites de collecte — Flandre française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B0B0B8"/>
                </a:solidFill>
                <a:latin typeface="Calibri"/>
              </a:rPr>
              <a:t>Périmètre : Flandre française (Flandre maritime + intérieure + Audomarois)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D166"/>
                </a:solidFill>
                <a:latin typeface="Calibri"/>
              </a:rPr>
              <a:t>54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sites de collecte sur la zone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doublons identifiés (&lt;7 km)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0" y="4023360"/>
            <a:ext cx="3200400" cy="8229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8.2 M€/an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23760" y="4892040"/>
            <a:ext cx="32004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économies estimées (scénario médian)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621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5577840"/>
            <a:ext cx="137160" cy="77724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5669280"/>
            <a:ext cx="1097280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400" b="1">
                <a:solidFill>
                  <a:srgbClr val="FFD166"/>
                </a:solidFill>
                <a:latin typeface="Calibri"/>
              </a:rPr>
              <a:t>76 %</a:t>
            </a:r>
            <a:r>
              <a:rPr sz="1300" b="0">
                <a:solidFill>
                  <a:srgbClr val="FFFFFF"/>
                </a:solidFill>
                <a:latin typeface="Calibri"/>
              </a:rPr>
              <a:t>  du tonnage R25 Noriap-Flandre se trouve en zone de doublon  </a:t>
            </a:r>
            <a:r>
              <a:rPr sz="1300" b="1">
                <a:solidFill>
                  <a:srgbClr val="06D6A0"/>
                </a:solidFill>
                <a:latin typeface="Calibri"/>
              </a:rPr>
              <a:t>→ leverage exceptionnel sur cette région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92240"/>
            <a:ext cx="109728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22/05/2026 — Source : SIRENE / Collecte Noriap R25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01  Périmètre Flandre — Définition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Calibri"/>
              </a:rPr>
              <a:t>Bornes géographiques retenues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Calibri"/>
              </a:rPr>
              <a:t>•  lat 50.55-51.1 / lng 1.9-3.05  (rectangle géographique délimitant la Flandre)
•  Sud : ligne Saint-Omer / Béthune. Nord : frontière belge. Ouest : Boulonnais / Calais. Est : Lille / Armentières.
•  Inclut : Flandre maritime (Dunkerque, Bergues, Hondschoote), Flandre intérieure (Cassel, Bailleul, Hazebrouck), Audomarois (St-Omer, Aire-sur-la-Lys), bordure Pas-de-Calais nord-est.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E600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3657600"/>
            <a:ext cx="3566160" cy="50292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Noriap (R25 &gt; 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68.9 kt collectées R25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2C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3657600"/>
            <a:ext cx="3566160" cy="5029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8056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Unéal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16 doublons Noriap &lt;7 km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3657600"/>
            <a:ext cx="3566160" cy="2011680"/>
          </a:xfrm>
          <a:prstGeom prst="rect">
            <a:avLst/>
          </a:prstGeom>
          <a:solidFill>
            <a:srgbClr val="FFFFFF"/>
          </a:solidFill>
          <a:ln w="3175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3657600"/>
            <a:ext cx="3566160" cy="5029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730752"/>
            <a:ext cx="338328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700" b="1">
                <a:solidFill>
                  <a:srgbClr val="FFFFFF"/>
                </a:solidFill>
                <a:latin typeface="Calibri"/>
              </a:rPr>
              <a:t>Ternoveo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29768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en Flandre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4617720"/>
            <a:ext cx="3383280" cy="6400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3600" b="1">
                <a:solidFill>
                  <a:srgbClr val="1A1A2E"/>
                </a:solidFill>
                <a:latin typeface="Calibri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40" y="525780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7 doublons Noriap &lt;7 km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02  Chiffres-clés Flandre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2723603" cy="6000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SITES CUMULÉS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54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23 N • 26 U • 5 T</a:t>
            </a:r>
          </a:p>
        </p:txBody>
      </p:sp>
      <p:sp>
        <p:nvSpPr>
          <p:cNvPr id="9" name="Rectangle 8"/>
          <p:cNvSpPr/>
          <p:nvPr/>
        </p:nvSpPr>
        <p:spPr>
          <a:xfrm>
            <a:off x="3230803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30803" y="1097280"/>
            <a:ext cx="2723603" cy="6000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13683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DOUBLONS &lt;7 KM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13683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20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13683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16 U • 7 T • 3 multi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04406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04406" y="1097280"/>
            <a:ext cx="2723603" cy="60000"/>
          </a:xfrm>
          <a:prstGeom prst="rect">
            <a:avLst/>
          </a:prstGeom>
          <a:solidFill>
            <a:srgbClr val="E600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7286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% TONNAGE EN DOUBLON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7286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76%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87286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52 kt sur 69 kt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778009" y="1097280"/>
            <a:ext cx="2723603" cy="21945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778009" y="1097280"/>
            <a:ext cx="2723603" cy="6000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0889" y="1234440"/>
            <a:ext cx="2449283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1">
                <a:solidFill>
                  <a:srgbClr val="666666"/>
                </a:solidFill>
                <a:latin typeface="Calibri"/>
              </a:rPr>
              <a:t>PAYBACK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60889" y="1600200"/>
            <a:ext cx="2449283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000" b="1">
                <a:solidFill>
                  <a:srgbClr val="1A1A2E"/>
                </a:solidFill>
                <a:latin typeface="Calibri"/>
              </a:rPr>
              <a:t>0.7 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0889" y="2743200"/>
            <a:ext cx="2449283" cy="502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Économies &gt; coûts one-shot en 8 mois (scénario médian)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57600"/>
            <a:ext cx="11277295" cy="27432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657600"/>
            <a:ext cx="137160" cy="274320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379476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9C27B0"/>
                </a:solidFill>
                <a:latin typeface="Calibri"/>
              </a:rPr>
              <a:t>POURQUOI COMMENCER PAR LA FLANDRE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16052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>
                <a:solidFill>
                  <a:srgbClr val="1A1A2E"/>
                </a:solidFill>
                <a:latin typeface="Calibri"/>
              </a:rPr>
              <a:t>76 % du tonnage R25 Noriap-Flandre se chevauche avec Unéal ou Ternoveo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4754880"/>
            <a:ext cx="10972800" cy="16459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Calibri"/>
              </a:rPr>
              <a:t>•  C'est plus de 3× le taux de chevauchement national (20 %).  </a:t>
            </a:r>
            <a:r>
              <a:rPr sz="1300" b="1">
                <a:solidFill>
                  <a:srgbClr val="1A1A2E"/>
                </a:solidFill>
                <a:latin typeface="Calibri"/>
              </a:rPr>
              <a:t>La Flandre concentre le potentiel.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Petit périmètre (54 sites au total) </a:t>
            </a:r>
            <a:r>
              <a:rPr sz="1300" b="1">
                <a:solidFill>
                  <a:srgbClr val="1A1A2E"/>
                </a:solidFill>
                <a:latin typeface="Calibri"/>
              </a:rPr>
              <a:t>→ pilote idéal avant déploiement Hauts-de-France complet.
</a:t>
            </a:r>
            <a:r>
              <a:rPr sz="1300" b="0">
                <a:solidFill>
                  <a:srgbClr val="666666"/>
                </a:solidFill>
                <a:latin typeface="Calibri"/>
              </a:rPr>
              <a:t>•  Triple recouvrement N+U+T : </a:t>
            </a:r>
            <a:r>
              <a:rPr sz="1300" b="1">
                <a:solidFill>
                  <a:srgbClr val="1A1A2E"/>
                </a:solidFill>
                <a:latin typeface="Calibri"/>
              </a:rPr>
              <a:t>3 sites prioritaires</a:t>
            </a:r>
            <a:r>
              <a:rPr sz="1300" b="0">
                <a:solidFill>
                  <a:srgbClr val="666666"/>
                </a:solidFill>
                <a:latin typeface="Calibri"/>
              </a:rPr>
              <a:t> — arbitrages les plus rapides.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  Top doublons Flandre — par tonnage R25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430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Pour chaque silo Noriap : tous les silos Unéal et Ternoveo à &lt;7 km, triés par distance.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7295" cy="36576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188720"/>
            <a:ext cx="265176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 NORIAP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0" y="1188720"/>
            <a:ext cx="137160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TONNAGE R25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0" y="1188720"/>
            <a:ext cx="338328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SILOS UNÉAL &lt;7 km (dist.)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1188720"/>
            <a:ext cx="3291840" cy="36576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SILOS TERNOVEO &lt;7 km (dist.)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600200"/>
            <a:ext cx="11277295" cy="566928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600200"/>
            <a:ext cx="73152" cy="566928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1645920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HOLQUE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0400" y="1645920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6 870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1645920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CAPPELLE-BROUCK (5.51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(6.63 km)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1645920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67128"/>
            <a:ext cx="73152" cy="566928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212848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PIHEM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2212848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6 611 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212848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DELETTES (4.99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HEURINGHEM (5.3 km)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55279" y="2212848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THEROUANNE (6.36 km)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734056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2734056"/>
            <a:ext cx="73152" cy="36576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2779776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SOCX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2779776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6 074 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0" y="2779776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ESQUELBECQ (6.69 km)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55279" y="2779776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BIERNE (2.08 km)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3099816"/>
            <a:ext cx="73152" cy="566928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3145536"/>
            <a:ext cx="265176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LAMBRES-LEZ-AIRE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0" y="3145536"/>
            <a:ext cx="137160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5 196 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0" y="3145536"/>
            <a:ext cx="338328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AIRE SUR LA LYS (1.52 km)</a:t>
            </a:r>
          </a:p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AIRE SUR LA LYS (2.02 km)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55279" y="3145536"/>
            <a:ext cx="3291840" cy="566928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666744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666744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371246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BOLLEZEELE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371246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4 437 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71246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(6.14 km)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371246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4032504"/>
            <a:ext cx="73152" cy="36576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407822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LOOBERGHE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200400" y="407822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3 914 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407822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DUNKERQUE (6.74 km)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55279" y="407822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BIERNE (0.92 km)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4398264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398264"/>
            <a:ext cx="73152" cy="36576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444398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OYE PLAGE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00400" y="444398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3 670 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0" y="444398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55279" y="444398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1F77B4"/>
                </a:solidFill>
                <a:latin typeface="Calibri"/>
              </a:rPr>
              <a:t>VIEILLE-EGLISE (6.57 km)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4764024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48640" y="480974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LEDERZEELE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00400" y="480974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3 156 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0" y="480974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LEDERZEELE (0.98 km)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955279" y="480974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129784"/>
            <a:ext cx="11277295" cy="36576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129784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517550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LEULINGHEM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00400" y="517550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2 237 t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0" y="517550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ZUDAUSQUES (2.08 km)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955279" y="517550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5495544"/>
            <a:ext cx="73152" cy="36576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48640" y="5541264"/>
            <a:ext cx="265176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REXPOEDE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00400" y="5541264"/>
            <a:ext cx="1371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0">
                <a:solidFill>
                  <a:srgbClr val="1A1A2E"/>
                </a:solidFill>
                <a:latin typeface="Calibri"/>
              </a:rPr>
              <a:t>2 193 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572000" y="5541264"/>
            <a:ext cx="338328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2CA02C"/>
                </a:solidFill>
                <a:latin typeface="Calibri"/>
              </a:rPr>
              <a:t>HONDSCHOOTE (5.36 km)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955279" y="5541264"/>
            <a:ext cx="329184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B0B0B8"/>
                </a:solidFill>
                <a:latin typeface="Calibri"/>
              </a:rPr>
              <a:t>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03a  Silos Noriap actifs R25 — Flandre (chalandise 7 km)</a:t>
            </a:r>
          </a:p>
        </p:txBody>
      </p:sp>
      <p:pic>
        <p:nvPicPr>
          <p:cNvPr id="4" name="Picture 3" descr="map_nori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9147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23 silos Noriap actifs sur la R25 en Flandre — 69 kt collectées (R25).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03b  Silos Unéal — Flandre (chalandise 7 km)</a:t>
            </a:r>
          </a:p>
        </p:txBody>
      </p:sp>
      <p:pic>
        <p:nvPicPr>
          <p:cNvPr id="4" name="Picture 3" descr="map_u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9147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26 silos Unéal géolocalisés dans le périmètre Flandre.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03c  Silos Ternoveo — Flandre (chalandise 7 km)</a:t>
            </a:r>
          </a:p>
        </p:txBody>
      </p:sp>
      <p:pic>
        <p:nvPicPr>
          <p:cNvPr id="4" name="Picture 3" descr="map_ternov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9147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5 silos Ternoveo dans le périmètre Flandre — implantation périphérique (Calais, Bierne, Renescure...).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03d  Recouvrement Noriap × Unéal — Flandre</a:t>
            </a:r>
          </a:p>
        </p:txBody>
      </p:sp>
      <p:pic>
        <p:nvPicPr>
          <p:cNvPr id="4" name="Picture 3" descr="map_noriap_un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9157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16 silos Noriap ont un Unéal à &lt;7 km — 46 kt R25 concernés.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03e  Recouvrement Noriap × Ternoveo — Flandre</a:t>
            </a:r>
          </a:p>
        </p:txBody>
      </p:sp>
      <p:pic>
        <p:nvPicPr>
          <p:cNvPr id="4" name="Picture 3" descr="map_noriap_ternove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60120"/>
            <a:ext cx="11247120" cy="9147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7 silos Noriap ont un Ternoveo à &lt;7 km — 23 kt R25 concernés.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04  Chiffrage des économies de regroupement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97280"/>
            <a:ext cx="3749039" cy="64008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1F77B4"/>
                </a:solidFill>
                <a:latin typeface="Calibri"/>
              </a:rPr>
              <a:t>4.7 M€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200 k€/site • peu de synergies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4 000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400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200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105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43399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399" y="1097280"/>
            <a:ext cx="3749039" cy="64008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26279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MÉDIAN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79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26279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06D6A0"/>
                </a:solidFill>
                <a:latin typeface="Calibri"/>
              </a:rPr>
              <a:t>8.2 M€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79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350 k€/site • synergies modérées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7 000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600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400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209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475488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097280"/>
            <a:ext cx="3749039" cy="64008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8" y="1216152"/>
            <a:ext cx="3474719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Scénario OPTIMISTE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187452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Total économies / 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2240280"/>
            <a:ext cx="3474719" cy="9144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400" b="1">
                <a:solidFill>
                  <a:srgbClr val="FF8C00"/>
                </a:solidFill>
                <a:latin typeface="Calibri"/>
              </a:rPr>
              <a:t>11.7 M€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78" y="3200400"/>
            <a:ext cx="3474719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1">
                <a:solidFill>
                  <a:srgbClr val="666666"/>
                </a:solidFill>
                <a:latin typeface="Calibri"/>
              </a:rPr>
              <a:t>500 k€/site • forte mutualisation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3703320"/>
            <a:ext cx="3474719" cy="21031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Charges fixes :  10 000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Pers. saisonnier :  800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Capex évité :  600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• Optim. logistique :  314 k€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/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Sur 20 sites fermés</a:t>
            </a:r>
          </a:p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52 310 t redéployées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6035040"/>
            <a:ext cx="112772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6126480"/>
            <a:ext cx="64008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200" b="0">
                <a:solidFill>
                  <a:srgbClr val="FFFFFF"/>
                </a:solidFill>
                <a:latin typeface="Calibri"/>
              </a:rPr>
              <a:t>Coûts one-shot estimés : 1,6 M€ sociaux + 2-6 M€ démantèlement + 0,3 M€ comm. = 4-8 M€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6126480"/>
            <a:ext cx="4572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400" b="1">
                <a:solidFill>
                  <a:srgbClr val="FFD166"/>
                </a:solidFill>
                <a:latin typeface="Calibri"/>
              </a:rPr>
              <a:t>PAYBACK MÉDIAN : ~8 mois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05  Hypothèses du chiffrage économique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4572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0"/>
            <a:ext cx="502920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Calibri"/>
              </a:rPr>
              <a:t>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7EB6FF"/>
                </a:solidFill>
                <a:latin typeface="Calibri"/>
              </a:rPr>
              <a:t>PRUDENT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06D6A0"/>
                </a:solidFill>
                <a:latin typeface="Calibri"/>
              </a:rPr>
              <a:t>MÉDIAN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92640" y="1097280"/>
            <a:ext cx="2011680" cy="4572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FF8C00"/>
                </a:solidFill>
                <a:latin typeface="Calibri"/>
              </a:rPr>
              <a:t>OPTIMISTE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002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6002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Charges fixes silo (entretien, électricité, taxes, personnel 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200 k€ / site / 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350 k€ / site / 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0" y="16002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500 k€ / site / 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2860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Personnel saisonnier mutualisé (équipes moisson partagées)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20 k€ / site / 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30 k€ / site / 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92640" y="22860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40 k€ / site / an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71800"/>
            <a:ext cx="11277295" cy="685800"/>
          </a:xfrm>
          <a:prstGeom prst="rect">
            <a:avLst/>
          </a:prstGeom>
          <a:solidFill>
            <a:srgbClr val="F4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9718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Capex évité (investissement remplacement)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100 k€ / 10 ans = 10 k€/an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200 k€ / 10 ans = 20 k€/an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92640" y="29718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300 k€ / 10 ans = 30 k€/an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3657600"/>
            <a:ext cx="502920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100" b="0">
                <a:solidFill>
                  <a:srgbClr val="1A1A2E"/>
                </a:solidFill>
                <a:latin typeface="Calibri"/>
              </a:rPr>
              <a:t>Optimisation logistique (€/t sur tonnage redéployé)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2 €/t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1">
                <a:solidFill>
                  <a:srgbClr val="1A1A2E"/>
                </a:solidFill>
                <a:latin typeface="Calibri"/>
              </a:rPr>
              <a:t>4 €/t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92640" y="3657600"/>
            <a:ext cx="2011680" cy="68580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Calibri"/>
              </a:rPr>
              <a:t>6 €/t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452628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Coûts one-shot de transition (indicatifs)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4937760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Indemnités sociales (~1 ETP / site fermé × 80 k€)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4937760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1600 k€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230368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Déconstruction / démantèlement (100-300 k€ / site)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5230368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2000–6000 k€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5522976"/>
            <a:ext cx="82296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Communication / transition adhérents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0" y="5522976"/>
            <a:ext cx="256032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100" b="1">
                <a:solidFill>
                  <a:srgbClr val="1A1A2E"/>
                </a:solidFill>
                <a:latin typeface="Calibri"/>
              </a:rPr>
              <a:t>300 k€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Potentiel perdu — économies brutes vs nettes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68680"/>
            <a:ext cx="11430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Hypothèse : un adhérent dont le silo Noriap est fermé livre au silo le plus proche (Noriap restant OU concurrent).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77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3703320" cy="5486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PRUDENT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Triple recouvrement (N+U+T) uniquement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3 sites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16.6 kt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13.3 kt (80.1%)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+1 050 k€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-199 k€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5715000"/>
            <a:ext cx="3429000" cy="54864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0.85 M€/an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70248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06D6A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70248" y="1280160"/>
            <a:ext cx="3703320" cy="54864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07408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MÉDIAN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3128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Doublons stricts &lt;5 km + triples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3128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53128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11 sites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53128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30.8 kt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53128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30.8 kt (100.0%)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53128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53128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+3 850 k€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53128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53128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-463 k€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07408" y="5715000"/>
            <a:ext cx="3429000" cy="548640"/>
          </a:xfrm>
          <a:prstGeom prst="rect">
            <a:avLst/>
          </a:prstGeom>
          <a:solidFill>
            <a:srgbClr val="06D6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07408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3.39 M€/an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83296" y="1280160"/>
            <a:ext cx="3703320" cy="5120640"/>
          </a:xfrm>
          <a:prstGeom prst="rect">
            <a:avLst/>
          </a:prstGeom>
          <a:solidFill>
            <a:srgbClr val="FFFFFF"/>
          </a:solidFill>
          <a:ln w="25400">
            <a:solidFill>
              <a:srgbClr val="FF8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8083296" y="1280160"/>
            <a:ext cx="3703320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0456" y="1371600"/>
            <a:ext cx="352044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Calibri"/>
              </a:rPr>
              <a:t>Scénario AGRESSIF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66176" y="1965960"/>
            <a:ext cx="34290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Tous les doublons &lt;7 km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66176" y="24231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Fermetures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266176" y="26974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20 sites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66176" y="30632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fermé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66176" y="33375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52.3 kt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266176" y="370332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→ Tonnage perdu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66176" y="397764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000" b="1">
                <a:solidFill>
                  <a:srgbClr val="E60026"/>
                </a:solidFill>
                <a:latin typeface="Calibri"/>
              </a:rPr>
              <a:t>51.4 kt (98.3%)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266176" y="448056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Économies brutes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66176" y="475488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A1A2E"/>
                </a:solidFill>
                <a:latin typeface="Calibri"/>
              </a:rPr>
              <a:t>+7 000 k€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66176" y="5120640"/>
            <a:ext cx="34290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Perte marge brute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66176" y="5394960"/>
            <a:ext cx="34290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E60026"/>
                </a:solidFill>
                <a:latin typeface="Calibri"/>
              </a:rPr>
              <a:t>-771 k€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220456" y="5715000"/>
            <a:ext cx="3429000" cy="54864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220456" y="5715000"/>
            <a:ext cx="3429000" cy="5486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NET : 6.23 M€/an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57200" y="6492240"/>
            <a:ext cx="11277295" cy="32004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6492240"/>
            <a:ext cx="10820095" cy="32004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1000" b="1">
                <a:solidFill>
                  <a:srgbClr val="FFFFFF"/>
                </a:solidFill>
                <a:latin typeface="Calibri"/>
              </a:rPr>
              <a:t>INSIGHT : en Flandre, peu de Noriap restants pour récupérer → le concurrent est presque toujours plus proche.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06  Recommandations &amp; plan d'action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37160" cy="960120"/>
          </a:xfrm>
          <a:prstGeom prst="rect">
            <a:avLst/>
          </a:prstGeom>
          <a:solidFill>
            <a:srgbClr val="FFD1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14300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1 (0–3 mois) — Arbitrer les 3 sites en triple recouvrement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50876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Sites N+U+T à &lt;7 km. Décision la plus rapide, impact symbolique fort. Gain estimé : ~1-1,5 M€/an récurrents.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148840"/>
            <a:ext cx="137160" cy="960120"/>
          </a:xfrm>
          <a:prstGeom prst="rect">
            <a:avLst/>
          </a:prstGeom>
          <a:solidFill>
            <a:srgbClr val="FF8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219456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2 (3–12 mois) — Audit terrain des 20 doublons Flandre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6032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Visite physique, vérification capacité réelle, état des silos, base adhérents, contraintes filière (bio, semences). Décisions de fermeture / transfert.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200400"/>
            <a:ext cx="137160" cy="960120"/>
          </a:xfrm>
          <a:prstGeom prst="rect">
            <a:avLst/>
          </a:prstGeom>
          <a:solidFill>
            <a:srgbClr val="2C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" y="32461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Phase 3 (12–18 mois) — Mise en œuvre fermetures + redéploiement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61188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Communication adhérents, accompagnement transitions, fermetures séquentielles pour éviter rupture de service.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251960"/>
            <a:ext cx="137160" cy="960120"/>
          </a:xfrm>
          <a:prstGeom prst="rect">
            <a:avLst/>
          </a:prstGeom>
          <a:solidFill>
            <a:srgbClr val="1F77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Préserver les actifs canaux et silos bio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Marquion (port), Dunkerque, et le silo bio Boiry-Sainte-Rictrude restent stratégiques. À exclure du périmètre fermetures.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303520"/>
            <a:ext cx="137160" cy="960120"/>
          </a:xfrm>
          <a:prstGeom prst="rect">
            <a:avLst/>
          </a:prstGeom>
          <a:solidFill>
            <a:srgbClr val="9C27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34924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Étendre la méthode au reste des Hauts-de-France après pilote Flandre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15000"/>
            <a:ext cx="105156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Si pilote OK : 43 doublons identifiés sur les Hauts-de-France complets = potentiel total 18 M€/an (extrapolation).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Calibri"/>
              </a:rPr>
              <a:t>07  Sources, méthode et limites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1097280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Sources de données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SIRENE / annuaire-entreprises.data.gouv.fr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7830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Localisation des silos actifs (Noriap 330189028, Unéal 385110234, Ternoveo 301521928).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Collecte BASE Noriap — fichier interne du 4 mai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4688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Tonnage R25 par site (960 833 mouvements scannés).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8803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geo.api.gouv.fr / api-adresse.data.gouv.fr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546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Géocodage adresses + centroïdes communes (Unéal : 38 GPS précis + 105 centroïdes commune).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566160"/>
            <a:ext cx="10972800" cy="2743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200" b="1">
                <a:solidFill>
                  <a:srgbClr val="1A1A2E"/>
                </a:solidFill>
                <a:latin typeface="Calibri"/>
              </a:rPr>
              <a:t>• API WFS Géoplateforme IGN — RPG 2024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840480"/>
            <a:ext cx="10972800" cy="4114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666666"/>
                </a:solidFill>
                <a:latin typeface="Calibri"/>
              </a:rPr>
              <a:t>Référence parcelles et cultures (non utilisée pour Flandre).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572000"/>
            <a:ext cx="109728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1">
                <a:solidFill>
                  <a:srgbClr val="1A1A2E"/>
                </a:solidFill>
                <a:latin typeface="Calibri"/>
              </a:rPr>
              <a:t>Hypothèses &amp; limites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983480"/>
            <a:ext cx="10972800" cy="18288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100" b="0">
                <a:solidFill>
                  <a:srgbClr val="666666"/>
                </a:solidFill>
                <a:latin typeface="Calibri"/>
              </a:rPr>
              <a:t>•  Seuil de doublon à 7 km = convention (rayon de chalandise typique). Un doublon ≠ fermeture automatique.
•  Pour Unéal, 26 silos identifiés en Flandre : précision GPS adresse pour une partie, centroïde commune pour l'autre.
•  Tonnage Ternoveo et Unéal non disponible → analyse focalisée sur l'impact tonnage Noriap.
•  Le périmètre 'Flandre' est défini par bbox (rectangle), pouvant inclure quelques communes hors Flandre stricte.
•  Chiffrage économique = hypothèses ordre de grandeur. Validation indispensable par Direction Financière, RH, Opérations.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