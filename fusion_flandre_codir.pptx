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37160" cy="201168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FFD166"/>
                </a:solidFill>
                <a:latin typeface="Calibri"/>
              </a:rPr>
              <a:t>DOSSIER CODIR — RÉGION FLANDRE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Regroupement </a:t>
            </a:r>
            <a:r>
              <a:rPr sz="4400" b="1">
                <a:solidFill>
                  <a:srgbClr val="FFD166"/>
                </a:solidFill>
                <a:latin typeface="Calibri"/>
              </a:rPr>
              <a:t>Noriap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06D6A0"/>
                </a:solidFill>
                <a:latin typeface="Calibri"/>
              </a:rPr>
              <a:t>Unéal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7EB6FF"/>
                </a:solidFill>
                <a:latin typeface="Calibri"/>
              </a:rPr>
              <a:t>Ternoveo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Rationalisation des sites de collecte — Flandre française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Calibri"/>
              </a:rPr>
              <a:t>Périmètre : Flandre française (Flandre maritime + intérieure + Audomarois)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sites de collecte sur la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doublons identifiés (&lt;7 km)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8.2 M€/an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économies estimées (scénario médian)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5577840"/>
            <a:ext cx="137160" cy="77724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FD166"/>
                </a:solidFill>
                <a:latin typeface="Calibri"/>
              </a:rPr>
              <a:t>76 %</a:t>
            </a:r>
            <a:r>
              <a:rPr sz="1300" b="0">
                <a:solidFill>
                  <a:srgbClr val="FFFFFF"/>
                </a:solidFill>
                <a:latin typeface="Calibri"/>
              </a:rPr>
              <a:t>  du tonnage R25 Noriap-Flandre se trouve en zone de doublon  </a:t>
            </a:r>
            <a:r>
              <a:rPr sz="1300" b="1">
                <a:solidFill>
                  <a:srgbClr val="06D6A0"/>
                </a:solidFill>
                <a:latin typeface="Calibri"/>
              </a:rPr>
              <a:t>→ leverage exceptionnel sur cette région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22/05/2026 — Source : SIRENE / Collecte Noriap R25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01  Périmètre Flandre — Définition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Bornes géographiques retenues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•  lat 50.55-51.1 / lng 1.9-3.05  (rectangle géographique délimitant la Flandre)
•  Sud : ligne Saint-Omer / Béthune. Nord : frontière belge. Ouest : Boulonnais / Calais. Est : Lille / Armentières.
•  Inclut : Flandre maritime (Dunkerque, Bergues, Hondschoote), Flandre intérieure (Cassel, Bailleul, Hazebrouck), Audomarois (St-Omer, Aire-sur-la-Lys), bordure Pas-de-Calais nord-est.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E60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3566160" cy="50292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Noriap (R25 &gt;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68.9 kt collectées R25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3566160" cy="5029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16 doublons Noriap &lt;7 km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657600"/>
            <a:ext cx="3566160" cy="5029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7 doublons Noriap &lt;7 km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02  Chiffres-clés Flandre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23603" cy="600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SITES CUMULÉS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23 N • 26 U • 5 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0803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30803" y="1097280"/>
            <a:ext cx="2723603" cy="600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DOUBLONS &lt;7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3683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16 U • 7 T • 3 multi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4406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4406" y="1097280"/>
            <a:ext cx="2723603" cy="6000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% TONNAGE EN DOUBLON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76%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6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52 kt sur 69 kt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09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009" y="1097280"/>
            <a:ext cx="2723603" cy="6000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0889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0889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0.7 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0889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Économies &gt; coûts one-shot en 8 mois (scénario médian)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57600"/>
            <a:ext cx="11277295" cy="27432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657600"/>
            <a:ext cx="137160" cy="274320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Calibri"/>
              </a:rPr>
              <a:t>POURQUOI COMMENCER PAR LA FLANDRE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Calibri"/>
              </a:rPr>
              <a:t>76 % du tonnage R25 Noriap-Flandre se chevauche avec Unéal ou Ternoveo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•  C'est plus de 3× le taux de chevauchement national (20 %).  </a:t>
            </a:r>
            <a:r>
              <a:rPr sz="1300" b="1">
                <a:solidFill>
                  <a:srgbClr val="1A1A2E"/>
                </a:solidFill>
                <a:latin typeface="Calibri"/>
              </a:rPr>
              <a:t>La Flandre concentre le potentiel.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Petit périmètre (54 sites au total) </a:t>
            </a:r>
            <a:r>
              <a:rPr sz="1300" b="1">
                <a:solidFill>
                  <a:srgbClr val="1A1A2E"/>
                </a:solidFill>
                <a:latin typeface="Calibri"/>
              </a:rPr>
              <a:t>→ pilote idéal avant déploiement Hauts-de-France complet.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Triple recouvrement N+U+T : </a:t>
            </a:r>
            <a:r>
              <a:rPr sz="1300" b="1">
                <a:solidFill>
                  <a:srgbClr val="1A1A2E"/>
                </a:solidFill>
                <a:latin typeface="Calibri"/>
              </a:rPr>
              <a:t>3 sites prioritaires</a:t>
            </a:r>
            <a:r>
              <a:rPr sz="1300" b="0">
                <a:solidFill>
                  <a:srgbClr val="666666"/>
                </a:solidFill>
                <a:latin typeface="Calibri"/>
              </a:rPr>
              <a:t> — arbitrages les plus rapides.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  Top doublons Flandre — par tonnage R25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56032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 NORIAP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14630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TONNAGE R25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097280"/>
            <a:ext cx="86868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97280"/>
            <a:ext cx="16916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CONCURRENT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097280"/>
            <a:ext cx="292608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COMMUNE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1097280"/>
            <a:ext cx="12801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DIST.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08760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HOLQUE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508760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6 870 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56362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56362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508760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1508760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CAPPELLE-BROUCK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1508760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5.51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1819656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PIHEM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1819656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6 611 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1874520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187452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1819656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 + 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1819656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DELETTES / THEROUANNE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1819656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4.99/6.36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130552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130552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SOCX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2130552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6 074 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2185416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218541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2130552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 + 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130552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ESQUELBECQ / BIERNE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2130552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6.69/2.08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441448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LAMBRES-LEZ-AIRE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2441448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5 196 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2496312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17720" y="249631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2441448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244144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AIRE SUR LA LYS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2441448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1.52 km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752344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2752344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BOLLEZEELE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08960" y="2752344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4 437 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17720" y="2807208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17720" y="280720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0" y="2752344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2752344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LEDERZEELE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2752344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6.14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3063240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LOOBERGHE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63240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3 914 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3118104"/>
            <a:ext cx="777240" cy="201168"/>
          </a:xfrm>
          <a:prstGeom prst="round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17720" y="311810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 + 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4960" y="3063240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 + 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3063240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DUNKERQUE / BIERNE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3063240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6.74/0.92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3374136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374136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OYE PLAGE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3374136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3 670 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17720" y="3429000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17720" y="342900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94960" y="3374136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Ternoveo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32320" y="3374136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VIEILLE-EGLISE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58400" y="3374136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6.57 km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3685032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LEDERZEELE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08960" y="3685032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3 156 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17720" y="3739896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17720" y="373989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94960" y="3685032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2320" y="3685032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LEDERZEELE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3685032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0.98 km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3995928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3995928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LEULINGHEM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3995928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2 237 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17720" y="4050792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17720" y="405079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94960" y="3995928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32320" y="399592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ZUDAUSQUES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3995928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2.08 km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4306824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REXPOEDE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4306824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2 193 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617720" y="4361688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17720" y="4361688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306824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32320" y="4306824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HONDSCHOOTE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4306824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5.36 km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617720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4617720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STEENVOORDE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8960" y="4617720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1 974 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617720" y="4672584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17720" y="4672584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94960" y="4617720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32320" y="4617720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EECKE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4617720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4.95 km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4928616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GONNEHEM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08960" y="4928616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1 875 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17720" y="4983480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617720" y="4983480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94960" y="4928616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Ternoveo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132320" y="4928616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BUSNES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58400" y="4928616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5.19 km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5239512"/>
            <a:ext cx="11277295" cy="310896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5239512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FLEURBAIX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08960" y="5239512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1 773 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17720" y="5294376"/>
            <a:ext cx="777240" cy="201168"/>
          </a:xfrm>
          <a:prstGeom prst="round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617720" y="5294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94960" y="5239512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Unéal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132320" y="5239512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LAVENTIE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5239512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6.42 km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5550408"/>
            <a:ext cx="256032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Calibri"/>
              </a:rPr>
              <a:t>AUDRUICQ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08960" y="5550408"/>
            <a:ext cx="14630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471 t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617720" y="5605272"/>
            <a:ext cx="777240" cy="201168"/>
          </a:xfrm>
          <a:prstGeom prst="round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617720" y="5605272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394960" y="5550408"/>
            <a:ext cx="169164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Ternoveo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132320" y="5550408"/>
            <a:ext cx="292608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VIEILLE-EGLISE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5550408"/>
            <a:ext cx="1280160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3.64 km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04  Chiffrage des économies de regroupement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749039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1F77B4"/>
                </a:solidFill>
                <a:latin typeface="Calibri"/>
              </a:rPr>
              <a:t>4.7 M€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200 k€/site • peu de synergies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4 000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400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200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105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399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097280"/>
            <a:ext cx="3749039" cy="64008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MÉDIAN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8.2 M€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350 k€/site • synergies modérées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7 000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600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400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209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097280"/>
            <a:ext cx="3749039" cy="6400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OPTIMISTE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11.7 M€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500 k€/site • forte mutualisation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10 000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800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600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314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26480"/>
            <a:ext cx="6400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Coûts one-shot estimés : 1,6 M€ sociaux + 2-6 M€ démantèlement + 0,3 M€ comm. = 4-8 M€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126480"/>
            <a:ext cx="4572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FFD166"/>
                </a:solidFill>
                <a:latin typeface="Calibri"/>
              </a:rPr>
              <a:t>PAYBACK MÉDIAN : ~8 mois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05  Hypothèses du chiffrage économique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7EB6FF"/>
                </a:solidFill>
                <a:latin typeface="Calibri"/>
              </a:rPr>
              <a:t>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06D6A0"/>
                </a:solidFill>
                <a:latin typeface="Calibri"/>
              </a:rPr>
              <a:t>MÉDIAN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Calibri"/>
              </a:rPr>
              <a:t>OPTIMISTE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Charges fixes silo (entretien, électricité, taxes, personnel 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200 k€ / site / 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350 k€ / site / 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500 k€ / site / 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Personnel saisonnier mutualisé (équipes moisson partagées)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 k€ / site /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30 k€ / site / 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40 k€ / site / 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8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718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Capex évité (investissement remplacement)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100 k€ / 10 ans = 10 k€/an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200 k€ / 10 ans = 20 k€/an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300 k€ / 10 ans = 30 k€/an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Optimisation logistique (€/t sur tonnage redéployé)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2 €/t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4 €/t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6 €/t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Coûts one-shot de transition (indicatifs)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Indemnités sociales (~1 ETP / site fermé × 80 k€)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937760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1600 k€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Déconstruction / démantèlement (100-300 k€ / site)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5230368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2000–6000 k€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22976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Communication / transition adhérents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522976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300 k€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Recommandations &amp; plan d'action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37160" cy="9601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1 (0–3 mois) — Arbitrer les 3 sites en triple recouvrement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N+U+T à &lt;7 km. Décision la plus rapide, impact symbolique fort. Gain estimé : ~1-1,5 M€/an récurrents.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137160" cy="96012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2 (3–12 mois) — Audit terrain des 20 doublons Flandre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Visite physique, vérification capacité réelle, état des silos, base adhérents, contraintes filière (bio, semences). Décisions de fermeture / transfert.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37160" cy="9601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3 (12–18 mois) — Mise en œuvre fermetures + redéploiement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Communication adhérents, accompagnement transitions, fermetures séquentielles pour éviter rupture de service.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37160" cy="9601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Préserver les actifs canaux et silos bio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Marquion (port), Dunkerque, et le silo bio Boiry-Sainte-Rictrude restent stratégiques. À exclure du périmètre fermetures.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37160" cy="96012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Étendre la méthode au reste des Hauts-de-France après pilote Flandre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 pilote OK : 43 doublons identifiés sur les Hauts-de-France complets = potentiel total 18 M€/an (extrapolation).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07  Sources, méthode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Sources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SIRENE / annuaire-entreprises.data.gouv.fr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Localisation des silos actifs (Noriap 330189028, Unéal 385110234, Ternoveo 301521928).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Collecte BASE Noriap — fichier interne du 4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par site (960 833 mouvements scannés).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geo.api.gouv.fr / api-adresse.data.gouv.fr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Géocodage adresses + centroïdes communes (Unéal : 38 GPS précis + 105 centroïdes commune).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WFS Géoplateforme IGN — RPG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Référence parcelles et cultures (non utilisée pour Flandre).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Hypothèses &amp;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Seuil de doublon à 7 km = convention (rayon de chalandise typique). Un doublon ≠ fermeture automatique.
•  Pour Unéal, 26 silos identifiés en Flandre : précision GPS adresse pour une partie, centroïde commune pour l'autre.
•  Tonnage Ternoveo et Unéal non disponible → analyse focalisée sur l'impact tonnage Noriap.
•  Le périmètre 'Flandre' est défini par bbox (rectangle), pouvant inclure quelques communes hors Flandre stricte.
•  Chiffrage économique = hypothèses ordre de grandeur. Validation indispensable par Direction Financière, RH, Opérations.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