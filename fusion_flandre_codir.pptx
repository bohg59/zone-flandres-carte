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37160" cy="201168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7315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FFD166"/>
                </a:solidFill>
                <a:latin typeface="Calibri"/>
              </a:rPr>
              <a:t>DOSSIER CODIR — RÉGION FLANDRE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Regroupement </a:t>
            </a:r>
            <a:r>
              <a:rPr sz="4400" b="1">
                <a:solidFill>
                  <a:srgbClr val="FFD166"/>
                </a:solidFill>
                <a:latin typeface="Calibri"/>
              </a:rPr>
              <a:t>Noriap</a:t>
            </a:r>
            <a:r>
              <a:rPr sz="4400" b="1">
                <a:solidFill>
                  <a:srgbClr val="FFFFFF"/>
                </a:solidFill>
                <a:latin typeface="Calibri"/>
              </a:rPr>
              <a:t> × </a:t>
            </a:r>
            <a:r>
              <a:rPr sz="4400" b="1">
                <a:solidFill>
                  <a:srgbClr val="06D6A0"/>
                </a:solidFill>
                <a:latin typeface="Calibri"/>
              </a:rPr>
              <a:t>Unéal</a:t>
            </a:r>
            <a:r>
              <a:rPr sz="4400" b="1">
                <a:solidFill>
                  <a:srgbClr val="FFFFFF"/>
                </a:solidFill>
                <a:latin typeface="Calibri"/>
              </a:rPr>
              <a:t> × </a:t>
            </a:r>
            <a:r>
              <a:rPr sz="4400" b="1">
                <a:solidFill>
                  <a:srgbClr val="7EB6FF"/>
                </a:solidFill>
                <a:latin typeface="Calibri"/>
              </a:rPr>
              <a:t>Ternoveo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109728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Rationalisation des sites de collecte — Flandre française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B0B0B8"/>
                </a:solidFill>
                <a:latin typeface="Calibri"/>
              </a:rPr>
              <a:t>Périmètre : Flandre française (Flandre maritime + intérieure + Audomarois)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23360"/>
            <a:ext cx="32004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FFD166"/>
                </a:solidFill>
                <a:latin typeface="Calibri"/>
              </a:rPr>
              <a:t>65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92040"/>
            <a:ext cx="32004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sites de collecte sur la zone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4023360"/>
            <a:ext cx="32004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FF8C00"/>
                </a:solidFill>
                <a:latin typeface="Calibri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4892040"/>
            <a:ext cx="32004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doublons identifiés (&lt;7 km)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4023360"/>
            <a:ext cx="32004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06D6A0"/>
                </a:solidFill>
                <a:latin typeface="Calibri"/>
              </a:rPr>
              <a:t>9.1 M€/an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892040"/>
            <a:ext cx="32004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économies estimées (scénario médian)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577840"/>
            <a:ext cx="11247120" cy="7772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5577840"/>
            <a:ext cx="137160" cy="77724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FFD166"/>
                </a:solidFill>
                <a:latin typeface="Calibri"/>
              </a:rPr>
              <a:t>73 %</a:t>
            </a:r>
            <a:r>
              <a:rPr sz="1300" b="0">
                <a:solidFill>
                  <a:srgbClr val="FFFFFF"/>
                </a:solidFill>
                <a:latin typeface="Calibri"/>
              </a:rPr>
              <a:t>  du tonnage R25 Noriap-Flandre se trouve en zone de doublon  </a:t>
            </a:r>
            <a:r>
              <a:rPr sz="1300" b="1">
                <a:solidFill>
                  <a:srgbClr val="06D6A0"/>
                </a:solidFill>
                <a:latin typeface="Calibri"/>
              </a:rPr>
              <a:t>→ leverage exceptionnel sur cette région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09728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B0B0B8"/>
                </a:solidFill>
                <a:latin typeface="Calibri"/>
              </a:rPr>
              <a:t>22/05/2026 — Source : SIRENE / Collecte Noriap R25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01  Périmètre Flandre — Définition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Calibri"/>
              </a:rPr>
              <a:t>Bornes géographiques retenues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•  lat 50.55-51.1 / lng 1.5-3.05  (rectangle géographique délimitant la Flandre)
•  Sud : ligne Saint-Omer / Béthune. Nord : frontière belge. Ouest : Boulonnais / Calais. Est : Lille / Armentières.
•  Inclut : Flandre maritime (Dunkerque, Bergues, Hondschoote), Flandre intérieure (Cassel, Bailleul, Hazebrouck), Audomarois (St-Omer, Aire-sur-la-Lys), bordure Pas-de-Calais nord-est.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657600"/>
            <a:ext cx="3566160" cy="2011680"/>
          </a:xfrm>
          <a:prstGeom prst="rect">
            <a:avLst/>
          </a:prstGeom>
          <a:solidFill>
            <a:srgbClr val="FFFFFF"/>
          </a:solidFill>
          <a:ln w="31750">
            <a:solidFill>
              <a:srgbClr val="E600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3657600"/>
            <a:ext cx="3566160" cy="502920"/>
          </a:xfrm>
          <a:prstGeom prst="rect">
            <a:avLst/>
          </a:prstGeom>
          <a:solidFill>
            <a:srgbClr val="E60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730752"/>
            <a:ext cx="33832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Noriap (R25 &gt; 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Sites en Flandre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>
                <a:solidFill>
                  <a:srgbClr val="1A1A2E"/>
                </a:solidFill>
                <a:latin typeface="Calibri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5780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93.5 kt collectées R25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3657600"/>
            <a:ext cx="3566160" cy="2011680"/>
          </a:xfrm>
          <a:prstGeom prst="rect">
            <a:avLst/>
          </a:prstGeom>
          <a:solidFill>
            <a:srgbClr val="FFFFFF"/>
          </a:solidFill>
          <a:ln w="31750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3657600"/>
            <a:ext cx="3566160" cy="50292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3730752"/>
            <a:ext cx="33832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Unéal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429768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Sites en Flandre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461772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>
                <a:solidFill>
                  <a:srgbClr val="1A1A2E"/>
                </a:solidFill>
                <a:latin typeface="Calibri"/>
              </a:rPr>
              <a:t>33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525780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18 doublons Noriap &lt;7 km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3657600"/>
            <a:ext cx="3566160" cy="2011680"/>
          </a:xfrm>
          <a:prstGeom prst="rect">
            <a:avLst/>
          </a:prstGeom>
          <a:solidFill>
            <a:srgbClr val="FFFFFF"/>
          </a:solidFill>
          <a:ln w="3175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3657600"/>
            <a:ext cx="3566160" cy="50292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3730752"/>
            <a:ext cx="33832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Ternoveo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29768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Sites en Flandre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61772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>
                <a:solidFill>
                  <a:srgbClr val="1A1A2E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525780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7 doublons Noriap &lt;7 km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02  Chiffres-clés Flandre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2723603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2723603" cy="6000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2449283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666666"/>
                </a:solidFill>
                <a:latin typeface="Calibri"/>
              </a:rPr>
              <a:t>SITES CUMULÉS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2449283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Calibri"/>
              </a:rPr>
              <a:t>65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2449283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27 N • 33 U • 5 T</a:t>
            </a:r>
          </a:p>
        </p:txBody>
      </p:sp>
      <p:sp>
        <p:nvSpPr>
          <p:cNvPr id="9" name="Rectangle 8"/>
          <p:cNvSpPr/>
          <p:nvPr/>
        </p:nvSpPr>
        <p:spPr>
          <a:xfrm>
            <a:off x="3230803" y="1097280"/>
            <a:ext cx="2723603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30803" y="1097280"/>
            <a:ext cx="2723603" cy="6000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1234440"/>
            <a:ext cx="2449283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666666"/>
                </a:solidFill>
                <a:latin typeface="Calibri"/>
              </a:rPr>
              <a:t>DOUBLONS &lt;7 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3683" y="1600200"/>
            <a:ext cx="2449283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Calibri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3683" y="2743200"/>
            <a:ext cx="2449283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18 U • 7 T • 3 multi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04406" y="1097280"/>
            <a:ext cx="2723603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04406" y="1097280"/>
            <a:ext cx="2723603" cy="60000"/>
          </a:xfrm>
          <a:prstGeom prst="rect">
            <a:avLst/>
          </a:prstGeom>
          <a:solidFill>
            <a:srgbClr val="E60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7286" y="1234440"/>
            <a:ext cx="2449283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666666"/>
                </a:solidFill>
                <a:latin typeface="Calibri"/>
              </a:rPr>
              <a:t>% TONNAGE EN DOUBLON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6" y="1600200"/>
            <a:ext cx="2449283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Calibri"/>
              </a:rPr>
              <a:t>73%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6" y="2743200"/>
            <a:ext cx="2449283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69 kt sur 93 kt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009" y="1097280"/>
            <a:ext cx="2723603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009" y="1097280"/>
            <a:ext cx="2723603" cy="60000"/>
          </a:xfrm>
          <a:prstGeom prst="rect">
            <a:avLst/>
          </a:prstGeom>
          <a:solidFill>
            <a:srgbClr val="06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0889" y="1234440"/>
            <a:ext cx="2449283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666666"/>
                </a:solidFill>
                <a:latin typeface="Calibri"/>
              </a:rPr>
              <a:t>PAYBACK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0889" y="1600200"/>
            <a:ext cx="2449283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Calibri"/>
              </a:rPr>
              <a:t>0.7 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0889" y="2743200"/>
            <a:ext cx="2449283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Économies &gt; coûts one-shot en 8 mois (scénario médian)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657600"/>
            <a:ext cx="11277295" cy="27432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657600"/>
            <a:ext cx="137160" cy="2743200"/>
          </a:xfrm>
          <a:prstGeom prst="rect">
            <a:avLst/>
          </a:prstGeom>
          <a:solidFill>
            <a:srgbClr val="9C2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794760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9C27B0"/>
                </a:solidFill>
                <a:latin typeface="Calibri"/>
              </a:rPr>
              <a:t>POURQUOI COMMENCER PAR LA FLANDRE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16052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1A1A2E"/>
                </a:solidFill>
                <a:latin typeface="Calibri"/>
              </a:rPr>
              <a:t>76 % du tonnage R25 Noriap-Flandre se chevauche avec Unéal ou Ternoveo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754880"/>
            <a:ext cx="10972800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•  C'est plus de 3× le taux de chevauchement national (20 %).  </a:t>
            </a:r>
            <a:r>
              <a:rPr sz="1300" b="1">
                <a:solidFill>
                  <a:srgbClr val="1A1A2E"/>
                </a:solidFill>
                <a:latin typeface="Calibri"/>
              </a:rPr>
              <a:t>La Flandre concentre le potentiel.
</a:t>
            </a:r>
            <a:r>
              <a:rPr sz="1300" b="0">
                <a:solidFill>
                  <a:srgbClr val="666666"/>
                </a:solidFill>
                <a:latin typeface="Calibri"/>
              </a:rPr>
              <a:t>•  Petit périmètre (54 sites au total) </a:t>
            </a:r>
            <a:r>
              <a:rPr sz="1300" b="1">
                <a:solidFill>
                  <a:srgbClr val="1A1A2E"/>
                </a:solidFill>
                <a:latin typeface="Calibri"/>
              </a:rPr>
              <a:t>→ pilote idéal avant déploiement Hauts-de-France complet.
</a:t>
            </a:r>
            <a:r>
              <a:rPr sz="1300" b="0">
                <a:solidFill>
                  <a:srgbClr val="666666"/>
                </a:solidFill>
                <a:latin typeface="Calibri"/>
              </a:rPr>
              <a:t>•  Triple recouvrement N+U+T : </a:t>
            </a:r>
            <a:r>
              <a:rPr sz="1300" b="1">
                <a:solidFill>
                  <a:srgbClr val="1A1A2E"/>
                </a:solidFill>
                <a:latin typeface="Calibri"/>
              </a:rPr>
              <a:t>3 sites prioritaires</a:t>
            </a:r>
            <a:r>
              <a:rPr sz="1300" b="0">
                <a:solidFill>
                  <a:srgbClr val="666666"/>
                </a:solidFill>
                <a:latin typeface="Calibri"/>
              </a:rPr>
              <a:t> — arbitrages les plus rapides.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03  Top doublons Flandre — par tonnage R25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430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Pour chaque silo Noriap : tous les silos Unéal et Ternoveo à &lt;7 km, triés par distance.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265176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SILO NORIAP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188720"/>
            <a:ext cx="137160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TONNAGE R25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18872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SILOS UNÉAL &lt;7 km (dist.)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1188720"/>
            <a:ext cx="329184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SILOS TERNOVEO &lt;7 km (dist.)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11277295" cy="768096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00200"/>
            <a:ext cx="73152" cy="768096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645920"/>
            <a:ext cx="2651760" cy="7680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MARQUISE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645920"/>
            <a:ext cx="1371600" cy="7680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11 050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645920"/>
            <a:ext cx="3383280" cy="7680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2CA02C"/>
                </a:solidFill>
                <a:latin typeface="Calibri"/>
              </a:rPr>
              <a:t>MARQUISE (1.11 km)</a:t>
            </a:r>
          </a:p>
          <a:p>
            <a:pPr algn="l"/>
            <a:r>
              <a:rPr sz="1000" b="0">
                <a:solidFill>
                  <a:srgbClr val="2CA02C"/>
                </a:solidFill>
                <a:latin typeface="Calibri"/>
              </a:rPr>
              <a:t>RETY (5.96 km)</a:t>
            </a:r>
          </a:p>
          <a:p>
            <a:pPr algn="l"/>
            <a:r>
              <a:rPr sz="1000" b="0">
                <a:solidFill>
                  <a:srgbClr val="2CA02C"/>
                </a:solidFill>
                <a:latin typeface="Calibri"/>
              </a:rPr>
              <a:t>WIMILLE (6.55 km)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645920"/>
            <a:ext cx="3291840" cy="7680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B0B0B8"/>
                </a:solidFill>
                <a:latin typeface="Calibri"/>
              </a:rPr>
              <a:t>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368296"/>
            <a:ext cx="73152" cy="566928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414016"/>
            <a:ext cx="265176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HOLQUE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414016"/>
            <a:ext cx="137160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6 870 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414016"/>
            <a:ext cx="33832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2CA02C"/>
                </a:solidFill>
                <a:latin typeface="Calibri"/>
              </a:rPr>
              <a:t>CAPPELLE-BROUCK (5.51 km)</a:t>
            </a:r>
          </a:p>
          <a:p>
            <a:pPr algn="l"/>
            <a:r>
              <a:rPr sz="1000" b="0">
                <a:solidFill>
                  <a:srgbClr val="2CA02C"/>
                </a:solidFill>
                <a:latin typeface="Calibri"/>
              </a:rPr>
              <a:t>LEDERZEELE (6.63 km)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2414016"/>
            <a:ext cx="329184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B0B0B8"/>
                </a:solidFill>
                <a:latin typeface="Calibri"/>
              </a:rPr>
              <a:t>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935224"/>
            <a:ext cx="11277295" cy="566928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2935224"/>
            <a:ext cx="73152" cy="566928"/>
          </a:xfrm>
          <a:prstGeom prst="rect">
            <a:avLst/>
          </a:prstGeom>
          <a:solidFill>
            <a:srgbClr val="9C2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980944"/>
            <a:ext cx="265176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PIHEM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2980944"/>
            <a:ext cx="137160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6 611 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980944"/>
            <a:ext cx="33832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2CA02C"/>
                </a:solidFill>
                <a:latin typeface="Calibri"/>
              </a:rPr>
              <a:t>DELETTES (4.99 km)</a:t>
            </a:r>
          </a:p>
          <a:p>
            <a:pPr algn="l"/>
            <a:r>
              <a:rPr sz="1000" b="0">
                <a:solidFill>
                  <a:srgbClr val="2CA02C"/>
                </a:solidFill>
                <a:latin typeface="Calibri"/>
              </a:rPr>
              <a:t>HEURINGHEM (5.3 km)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2980944"/>
            <a:ext cx="329184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1F77B4"/>
                </a:solidFill>
                <a:latin typeface="Calibri"/>
              </a:rPr>
              <a:t>THEROUANNE (6.36 km)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502152"/>
            <a:ext cx="73152" cy="365760"/>
          </a:xfrm>
          <a:prstGeom prst="rect">
            <a:avLst/>
          </a:prstGeom>
          <a:solidFill>
            <a:srgbClr val="9C2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547872"/>
            <a:ext cx="26517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SOCX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547872"/>
            <a:ext cx="1371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6 074 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547872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2CA02C"/>
                </a:solidFill>
                <a:latin typeface="Calibri"/>
              </a:rPr>
              <a:t>ESQUELBECQ (6.69 km)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3547872"/>
            <a:ext cx="3291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1F77B4"/>
                </a:solidFill>
                <a:latin typeface="Calibri"/>
              </a:rPr>
              <a:t>BIERNE (2.08 km)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867912"/>
            <a:ext cx="11277295" cy="36576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3867912"/>
            <a:ext cx="73152" cy="36576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3913632"/>
            <a:ext cx="26517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GUINES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3913632"/>
            <a:ext cx="1371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5 212 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3913632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2CA02C"/>
                </a:solidFill>
                <a:latin typeface="Calibri"/>
              </a:rPr>
              <a:t>CAFFIERS (4.06 km)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79" y="3913632"/>
            <a:ext cx="3291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B0B0B8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233672"/>
            <a:ext cx="73152" cy="566928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4279392"/>
            <a:ext cx="265176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LAMBRES-LEZ-AIRE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4279392"/>
            <a:ext cx="137160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5 196 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4279392"/>
            <a:ext cx="33832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2CA02C"/>
                </a:solidFill>
                <a:latin typeface="Calibri"/>
              </a:rPr>
              <a:t>AIRE SUR LA LYS (1.52 km)</a:t>
            </a:r>
          </a:p>
          <a:p>
            <a:pPr algn="l"/>
            <a:r>
              <a:rPr sz="1000" b="0">
                <a:solidFill>
                  <a:srgbClr val="2CA02C"/>
                </a:solidFill>
                <a:latin typeface="Calibri"/>
              </a:rPr>
              <a:t>AIRE SUR LA LYS (2.02 km)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4279392"/>
            <a:ext cx="329184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B0B0B8"/>
                </a:solidFill>
                <a:latin typeface="Calibri"/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4800600"/>
            <a:ext cx="11277295" cy="36576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4800600"/>
            <a:ext cx="73152" cy="36576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4846320"/>
            <a:ext cx="26517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BOLLEZEELE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0" y="4846320"/>
            <a:ext cx="1371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4 437 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484632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2CA02C"/>
                </a:solidFill>
                <a:latin typeface="Calibri"/>
              </a:rPr>
              <a:t>LEDERZEELE (6.14 km)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5279" y="4846320"/>
            <a:ext cx="3291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B0B0B8"/>
                </a:solidFill>
                <a:latin typeface="Calibri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5166360"/>
            <a:ext cx="73152" cy="365760"/>
          </a:xfrm>
          <a:prstGeom prst="rect">
            <a:avLst/>
          </a:prstGeom>
          <a:solidFill>
            <a:srgbClr val="9C2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212080"/>
            <a:ext cx="26517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LOOBERGHE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0400" y="5212080"/>
            <a:ext cx="1371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3 914 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521208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2CA02C"/>
                </a:solidFill>
                <a:latin typeface="Calibri"/>
              </a:rPr>
              <a:t>DUNKERQUE (6.74 km)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55279" y="5212080"/>
            <a:ext cx="3291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1F77B4"/>
                </a:solidFill>
                <a:latin typeface="Calibri"/>
              </a:rPr>
              <a:t>BIERNE (0.92 km)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5532120"/>
            <a:ext cx="11277295" cy="36576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57200" y="5532120"/>
            <a:ext cx="73152" cy="36576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5577840"/>
            <a:ext cx="26517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OYE PLAGE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00400" y="5577840"/>
            <a:ext cx="1371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3 670 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557784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B0B0B8"/>
                </a:solidFill>
                <a:latin typeface="Calibri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5577840"/>
            <a:ext cx="3291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1F77B4"/>
                </a:solidFill>
                <a:latin typeface="Calibri"/>
              </a:rPr>
              <a:t>VIEILLE-EGLISE (6.57 km)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" y="5897880"/>
            <a:ext cx="73152" cy="36576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" y="5943600"/>
            <a:ext cx="26517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LEDERZEELE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00400" y="5943600"/>
            <a:ext cx="1371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3 156 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0" y="594360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2CA02C"/>
                </a:solidFill>
                <a:latin typeface="Calibri"/>
              </a:rPr>
              <a:t>LEDERZEELE (0.98 km)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55279" y="5943600"/>
            <a:ext cx="3291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B0B0B8"/>
                </a:solidFill>
                <a:latin typeface="Calibri"/>
              </a:rPr>
              <a:t>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03a  Silos Noriap actifs R25 — Flandre (chalandise 7 km)</a:t>
            </a:r>
          </a:p>
        </p:txBody>
      </p:sp>
      <p:pic>
        <p:nvPicPr>
          <p:cNvPr id="4" name="Picture 3" descr="map_nori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11247120" cy="69708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27 silos Noriap actifs sur la R25 en Flandre — 93 kt collectées (R25).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03b  Silos Unéal — Flandre (chalandise 7 km)</a:t>
            </a:r>
          </a:p>
        </p:txBody>
      </p:sp>
      <p:pic>
        <p:nvPicPr>
          <p:cNvPr id="4" name="Picture 3" descr="map_un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11247120" cy="69708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33 silos Unéal géolocalisés dans le périmètre Flandre.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03c  Silos Ternoveo — Flandre (chalandise 7 km)</a:t>
            </a:r>
          </a:p>
        </p:txBody>
      </p:sp>
      <p:pic>
        <p:nvPicPr>
          <p:cNvPr id="4" name="Picture 3" descr="map_ternov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11247120" cy="69708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5 silos Ternoveo dans le périmètre Flandre — implantation périphérique (Calais, Bierne, Renescure...).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03d  Recouvrement Noriap × Unéal — Flandre</a:t>
            </a:r>
          </a:p>
        </p:txBody>
      </p:sp>
      <p:pic>
        <p:nvPicPr>
          <p:cNvPr id="4" name="Picture 3" descr="map_noriap_un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11247120" cy="69765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18 silos Noriap ont un Unéal à &lt;7 km — 62 kt R25 concernés.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03e  Recouvrement Noriap × Ternoveo — Flandre</a:t>
            </a:r>
          </a:p>
        </p:txBody>
      </p:sp>
      <p:pic>
        <p:nvPicPr>
          <p:cNvPr id="4" name="Picture 3" descr="map_noriap_ternov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11247120" cy="69708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7 silos Noriap ont un Ternoveo à &lt;7 km — 23 kt R25 concernés.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04  Chiffrage des économies de regroupement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3749039" cy="4754880"/>
          </a:xfrm>
          <a:prstGeom prst="rect">
            <a:avLst/>
          </a:prstGeom>
          <a:solidFill>
            <a:srgbClr val="FFFFFF"/>
          </a:solidFill>
          <a:ln w="2540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3749039" cy="64008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16152"/>
            <a:ext cx="3474719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Scénario PRUDENT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20"/>
            <a:ext cx="3474719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Total économies / 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3474719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1F77B4"/>
                </a:solidFill>
                <a:latin typeface="Calibri"/>
              </a:rPr>
              <a:t>5.2 M€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3474719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200 k€/site • peu de synergies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3474719" cy="2103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Charges fixes :  4 400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Pers. saisonnier :  440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Capex évité :  220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Optim. logistique :  137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Sur 22 sites fermés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68 573 t redéployées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399" y="1097280"/>
            <a:ext cx="3749039" cy="4754880"/>
          </a:xfrm>
          <a:prstGeom prst="rect">
            <a:avLst/>
          </a:prstGeom>
          <a:solidFill>
            <a:srgbClr val="FFFFFF"/>
          </a:solidFill>
          <a:ln w="25400">
            <a:solidFill>
              <a:srgbClr val="06D6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399" y="1097280"/>
            <a:ext cx="3749039" cy="640080"/>
          </a:xfrm>
          <a:prstGeom prst="rect">
            <a:avLst/>
          </a:prstGeom>
          <a:solidFill>
            <a:srgbClr val="06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1216152"/>
            <a:ext cx="3474719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Scénario MÉDIAN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1874520"/>
            <a:ext cx="3474719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Total économies / 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2240280"/>
            <a:ext cx="3474719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06D6A0"/>
                </a:solidFill>
                <a:latin typeface="Calibri"/>
              </a:rPr>
              <a:t>9.1 M€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3200400"/>
            <a:ext cx="3474719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350 k€/site • synergies modérées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703320"/>
            <a:ext cx="3474719" cy="2103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Charges fixes :  7 700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Pers. saisonnier :  660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Capex évité :  440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Optim. logistique :  274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Sur 22 sites fermés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68 573 t redéployées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4754880"/>
          </a:xfrm>
          <a:prstGeom prst="rect">
            <a:avLst/>
          </a:prstGeom>
          <a:solidFill>
            <a:srgbClr val="FFFFFF"/>
          </a:solidFill>
          <a:ln w="254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598" y="1097280"/>
            <a:ext cx="3749039" cy="64008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8" y="1216152"/>
            <a:ext cx="3474719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Scénario OPTIMISTE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1874520"/>
            <a:ext cx="3474719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Total économies / 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2240280"/>
            <a:ext cx="3474719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FF8C00"/>
                </a:solidFill>
                <a:latin typeface="Calibri"/>
              </a:rPr>
              <a:t>13.0 M€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8" y="3200400"/>
            <a:ext cx="3474719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500 k€/site • forte mutualisation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8" y="3703320"/>
            <a:ext cx="3474719" cy="2103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Charges fixes :  11 000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Pers. saisonnier :  880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Capex évité :  660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Optim. logistique :  411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Sur 22 sites fermés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68 573 t redéployées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035040"/>
            <a:ext cx="112772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126480"/>
            <a:ext cx="64008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Coûts one-shot estimés : 1,6 M€ sociaux + 2-6 M€ démantèlement + 0,3 M€ comm. = 4-8 M€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6126480"/>
            <a:ext cx="45720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FFD166"/>
                </a:solidFill>
                <a:latin typeface="Calibri"/>
              </a:rPr>
              <a:t>PAYBACK MÉDIAN : ~8 mois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05  Hypothèses du chiffrage économique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POSTE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109728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7EB6FF"/>
                </a:solidFill>
                <a:latin typeface="Calibri"/>
              </a:rPr>
              <a:t>PRUDENT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09728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06D6A0"/>
                </a:solidFill>
                <a:latin typeface="Calibri"/>
              </a:rPr>
              <a:t>MÉDIAN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109728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8C00"/>
                </a:solidFill>
                <a:latin typeface="Calibri"/>
              </a:rPr>
              <a:t>OPTIMISTE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00200"/>
            <a:ext cx="11277295" cy="685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502920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Charges fixes silo (entretien, électricité, taxes, personnel base)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16002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200 k€ / site / 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16002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A1A2E"/>
                </a:solidFill>
                <a:latin typeface="Calibri"/>
              </a:rPr>
              <a:t>350 k€ / site / 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16002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500 k€ / site / 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286000"/>
            <a:ext cx="502920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Personnel saisonnier mutualisé (équipes moisson partagées)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2860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20 k€ / site / 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2860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A1A2E"/>
                </a:solidFill>
                <a:latin typeface="Calibri"/>
              </a:rPr>
              <a:t>30 k€ / site / 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22860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40 k€ / site / 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71800"/>
            <a:ext cx="11277295" cy="685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971800"/>
            <a:ext cx="502920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Capex évité (investissement remplacement)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9718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100 k€ / 10 ans = 10 k€/an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29718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A1A2E"/>
                </a:solidFill>
                <a:latin typeface="Calibri"/>
              </a:rPr>
              <a:t>200 k€ / 10 ans = 20 k€/an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29718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300 k€ / 10 ans = 30 k€/an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57600"/>
            <a:ext cx="502920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Optimisation logistique (€/t sur tonnage redéployé)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6576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2 €/t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36576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A1A2E"/>
                </a:solidFill>
                <a:latin typeface="Calibri"/>
              </a:rPr>
              <a:t>4 €/t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36576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6 €/t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26280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Calibri"/>
              </a:rPr>
              <a:t>Coûts one-shot de transition (indicatifs)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937760"/>
            <a:ext cx="8229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•  Indemnités sociales (~1 ETP / site fermé × 80 k€)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4937760"/>
            <a:ext cx="25603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100" b="1">
                <a:solidFill>
                  <a:srgbClr val="1A1A2E"/>
                </a:solidFill>
                <a:latin typeface="Calibri"/>
              </a:rPr>
              <a:t>1760 k€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230368"/>
            <a:ext cx="8229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•  Déconstruction / démantèlement (100-300 k€ / site)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5230368"/>
            <a:ext cx="25603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100" b="1">
                <a:solidFill>
                  <a:srgbClr val="1A1A2E"/>
                </a:solidFill>
                <a:latin typeface="Calibri"/>
              </a:rPr>
              <a:t>2200–6600 k€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522976"/>
            <a:ext cx="8229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•  Communication / transition adhérents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5522976"/>
            <a:ext cx="25603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100" b="1">
                <a:solidFill>
                  <a:srgbClr val="1A1A2E"/>
                </a:solidFill>
                <a:latin typeface="Calibri"/>
              </a:rPr>
              <a:t>300 k€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06  Potentiel perdu — économies brutes vs nettes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Hypothèse : un adhérent dont le silo Noriap est fermé livre au silo le plus proche (Noriap restant OU concurrent).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3703320" cy="51206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3703320" cy="5486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35204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Scénario PRUDENT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34290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Triple recouvrement (N+U+T) uniquement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316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Fermetures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9748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Calibri"/>
              </a:rPr>
              <a:t>3 sites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6324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Tonnage R25 fermé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Calibri"/>
              </a:rPr>
              <a:t>16.6 kt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0332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→ Tonnage perdu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97764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E60026"/>
                </a:solidFill>
                <a:latin typeface="Calibri"/>
              </a:rPr>
              <a:t>13.3 kt (80.1%)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48056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Économies brutes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75488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Calibri"/>
              </a:rPr>
              <a:t>+1 050 k€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2064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Perte marge brute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39496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E60026"/>
                </a:solidFill>
                <a:latin typeface="Calibri"/>
              </a:rPr>
              <a:t>-199 k€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5715000"/>
            <a:ext cx="3429000" cy="5486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715000"/>
            <a:ext cx="34290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NET : 0.85 M€/an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70248" y="1280160"/>
            <a:ext cx="3703320" cy="5120640"/>
          </a:xfrm>
          <a:prstGeom prst="rect">
            <a:avLst/>
          </a:prstGeom>
          <a:solidFill>
            <a:srgbClr val="FFFFFF"/>
          </a:solidFill>
          <a:ln w="25400">
            <a:solidFill>
              <a:srgbClr val="06D6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0248" y="1280160"/>
            <a:ext cx="3703320" cy="548640"/>
          </a:xfrm>
          <a:prstGeom prst="rect">
            <a:avLst/>
          </a:prstGeom>
          <a:solidFill>
            <a:srgbClr val="06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7408" y="1371600"/>
            <a:ext cx="35204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Scénario MÉDIAN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3128" y="1965960"/>
            <a:ext cx="34290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Doublons stricts &lt;5 km + triples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3128" y="242316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Fermetures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3128" y="269748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Calibri"/>
              </a:rPr>
              <a:t>13 sites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3128" y="306324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Tonnage R25 fermé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33756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Calibri"/>
              </a:rPr>
              <a:t>47.1 kt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70332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→ Tonnage perdu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8" y="397764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E60026"/>
                </a:solidFill>
                <a:latin typeface="Calibri"/>
              </a:rPr>
              <a:t>47.1 kt (100.0%)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53128" y="448056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Économies brutes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53128" y="475488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Calibri"/>
              </a:rPr>
              <a:t>+4 550 k€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53128" y="512064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Perte marge brute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53128" y="539496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E60026"/>
                </a:solidFill>
                <a:latin typeface="Calibri"/>
              </a:rPr>
              <a:t>-707 k€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07408" y="5715000"/>
            <a:ext cx="3429000" cy="548640"/>
          </a:xfrm>
          <a:prstGeom prst="rect">
            <a:avLst/>
          </a:prstGeom>
          <a:solidFill>
            <a:srgbClr val="06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07408" y="5715000"/>
            <a:ext cx="34290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NET : 3.84 M€/an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83296" y="1280160"/>
            <a:ext cx="3703320" cy="5120640"/>
          </a:xfrm>
          <a:prstGeom prst="rect">
            <a:avLst/>
          </a:prstGeom>
          <a:solidFill>
            <a:srgbClr val="FFFFFF"/>
          </a:solidFill>
          <a:ln w="254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3296" y="1280160"/>
            <a:ext cx="3703320" cy="54864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0456" y="1371600"/>
            <a:ext cx="35204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Scénario AGRESSIF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66176" y="1965960"/>
            <a:ext cx="34290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Tous les doublons &lt;7 km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66176" y="242316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Fermetures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6176" y="269748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Calibri"/>
              </a:rPr>
              <a:t>22 sites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66176" y="306324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Tonnage R25 fermé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66176" y="333756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Calibri"/>
              </a:rPr>
              <a:t>68.6 kt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66176" y="370332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→ Tonnage perdu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66176" y="397764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E60026"/>
                </a:solidFill>
                <a:latin typeface="Calibri"/>
              </a:rPr>
              <a:t>67.7 kt (98.7%)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66176" y="448056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Économies brutes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66176" y="475488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Calibri"/>
              </a:rPr>
              <a:t>+7 700 k€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66176" y="512064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Perte marge brute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66176" y="539496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E60026"/>
                </a:solidFill>
                <a:latin typeface="Calibri"/>
              </a:rPr>
              <a:t>-1 015 k€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20456" y="5715000"/>
            <a:ext cx="3429000" cy="54864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20456" y="5715000"/>
            <a:ext cx="34290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NET : 6.68 M€/an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6492240"/>
            <a:ext cx="11277295" cy="320040"/>
          </a:xfrm>
          <a:prstGeom prst="rect">
            <a:avLst/>
          </a:prstGeom>
          <a:solidFill>
            <a:srgbClr val="9C2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6492240"/>
            <a:ext cx="10820095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INSIGHT : en Flandre, peu de Noriap restants pour récupérer → le concurrent est presque toujours plus proche.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06  Recommandations &amp; plan d'action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37160" cy="96012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Phase 1 (0–3 mois) — Arbitrer les 3 sites en triple recouvrement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5156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Sites N+U+T à &lt;7 km. Décision la plus rapide, impact symbolique fort. Gain estimé : ~1-1,5 M€/an récurrents.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48840"/>
            <a:ext cx="137160" cy="96012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Phase 2 (3–12 mois) — Audit terrain des 20 doublons Flandre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05156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Visite physique, vérification capacité réelle, état des silos, base adhérents, contraintes filière (bio, semences). Décisions de fermeture / transfert.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00400"/>
            <a:ext cx="137160" cy="96012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2461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Phase 3 (12–18 mois) — Mise en œuvre fermetures + redéploiement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11880"/>
            <a:ext cx="105156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Communication adhérents, accompagnement transitions, fermetures séquentielles pour éviter rupture de service.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51960"/>
            <a:ext cx="137160" cy="96012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29768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Préserver les actifs canaux et silos bio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105156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Marquion (port), Dunkerque, et le silo bio Boiry-Sainte-Rictrude restent stratégiques. À exclure du périmètre fermetures.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303520"/>
            <a:ext cx="137160" cy="960120"/>
          </a:xfrm>
          <a:prstGeom prst="rect">
            <a:avLst/>
          </a:prstGeom>
          <a:solidFill>
            <a:srgbClr val="9C2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34924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Étendre la méthode au reste des Hauts-de-France après pilote Flandre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15000"/>
            <a:ext cx="105156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Si pilote OK : 43 doublons identifiés sur les Hauts-de-France complets = potentiel total 20 M€/an (extrapolation).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07  Sources, méthode et 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Sources de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10972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• SIRENE / annuaire-entreprises.data.gouv.fr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109728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Localisation des silos actifs (Noriap 330189028, Unéal 385110234, Ternoveo 301521928).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0972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• Collecte BASE Noriap — fichier interne du 4 mai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109728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Tonnage R25 par site (960 833 mouvements scannés).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80360"/>
            <a:ext cx="10972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• API geo.api.gouv.fr / api-adresse.data.gouv.fr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54680"/>
            <a:ext cx="109728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Géocodage adresses + centroïdes communes (Unéal : 38 GPS précis + 105 centroïdes commune).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566160"/>
            <a:ext cx="10972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• API WFS Géoplateforme IGN — RPG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109728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Référence parcelles et cultures (non utilisée pour Flandre).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Hypothèses &amp; limites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83480"/>
            <a:ext cx="10972800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•  Seuil de doublon à 7 km = convention (rayon de chalandise typique). Un doublon ≠ fermeture automatique.
•  Pour Unéal, 26 silos identifiés en Flandre : précision GPS adresse pour une partie, centroïde commune pour l'autre.
•  Tonnage Ternoveo et Unéal non disponible → analyse focalisée sur l'impact tonnage Noriap.
•  Le périmètre 'Flandre' est défini par bbox (rectangle), pouvant inclure quelques communes hors Flandre stricte.
•  Chiffrage économique = hypothèses ordre de grandeur. Validation indispensable par Direction Financière, RH, Opérations.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