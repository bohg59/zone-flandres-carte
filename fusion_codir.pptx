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37160" cy="201168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7315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FFD166"/>
                </a:solidFill>
                <a:latin typeface="Calibri"/>
              </a:rPr>
              <a:t>NOTE STRATÉGIQUE —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Fusion </a:t>
            </a:r>
            <a:r>
              <a:rPr sz="4800" b="1">
                <a:solidFill>
                  <a:srgbClr val="FFD166"/>
                </a:solidFill>
                <a:latin typeface="Calibri"/>
              </a:rPr>
              <a:t>Noriap</a:t>
            </a:r>
            <a:r>
              <a:rPr sz="4800" b="1">
                <a:solidFill>
                  <a:srgbClr val="FFFFFF"/>
                </a:solidFill>
                <a:latin typeface="Calibri"/>
              </a:rPr>
              <a:t> × </a:t>
            </a:r>
            <a:r>
              <a:rPr sz="4800" b="1">
                <a:solidFill>
                  <a:srgbClr val="06D6A0"/>
                </a:solidFill>
                <a:latin typeface="Calibri"/>
              </a:rPr>
              <a:t>Unéal</a:t>
            </a:r>
            <a:r>
              <a:rPr sz="4800" b="1">
                <a:solidFill>
                  <a:srgbClr val="FFFFFF"/>
                </a:solidFill>
                <a:latin typeface="Calibri"/>
              </a:rPr>
              <a:t> × </a:t>
            </a:r>
            <a:r>
              <a:rPr sz="4800" b="1">
                <a:solidFill>
                  <a:srgbClr val="7EB6FF"/>
                </a:solidFill>
                <a:latin typeface="Calibri"/>
              </a:rPr>
              <a:t>Ternoveo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109728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Analyse de rationalisation des sites de collecte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B0B0B8"/>
                </a:solidFill>
                <a:latin typeface="Calibri"/>
              </a:rPr>
              <a:t>Hauts-de-France — Périmètre des 3 entités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0"/>
            <a:ext cx="32004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D166"/>
                </a:solidFill>
                <a:latin typeface="Calibri"/>
              </a:rPr>
              <a:t>240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74920"/>
            <a:ext cx="3200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sites au total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4206240"/>
            <a:ext cx="32004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D166"/>
                </a:solidFill>
                <a:latin typeface="Calibri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5074920"/>
            <a:ext cx="3200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doublons identifiés (&lt;7 km)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4206240"/>
            <a:ext cx="32004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D166"/>
                </a:solidFill>
                <a:latin typeface="Calibri"/>
              </a:rPr>
              <a:t>7.7 M€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5074920"/>
            <a:ext cx="3200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économies potentielles / 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B0B0B8"/>
                </a:solidFill>
                <a:latin typeface="Calibri"/>
              </a:rPr>
              <a:t>22/05/2026 — Source : SIRENE / Collecte interne Noriap / RPG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01  Les 3 acteurs sur la zone Hauts-de-France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65760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E600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57600" cy="640080"/>
          </a:xfrm>
          <a:prstGeom prst="rect">
            <a:avLst/>
          </a:prstGeom>
          <a:solidFill>
            <a:srgbClr val="E60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07592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Noriap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338328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  <a:latin typeface="Calibri"/>
              </a:rPr>
              <a:t>157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Tonnage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9476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1A1A2E"/>
                </a:solidFill>
                <a:latin typeface="Calibri"/>
              </a:rPr>
              <a:t>1053 kt R25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338328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Cœur : Picardie + Pays de Bray.
Extensions Flandres maritimes via La Flandre.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188720"/>
            <a:ext cx="365760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188720"/>
            <a:ext cx="3657600" cy="64008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307592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Unéal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1031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Sites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423160"/>
            <a:ext cx="338328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  <a:latin typeface="Calibri"/>
              </a:rPr>
              <a:t>38*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47472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Tonnage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79476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1A1A2E"/>
                </a:solidFill>
                <a:latin typeface="Calibri"/>
              </a:rPr>
              <a:t>≈ 1,2 Mt /an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029200"/>
            <a:ext cx="338328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Cœur : Artois + Boulonnais.
* Sur 125 actifs estimés, données GPS précises pour 38.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21040" y="1188720"/>
            <a:ext cx="365760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1188720"/>
            <a:ext cx="3657600" cy="64008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1307592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Ternoveo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1031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Sites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423160"/>
            <a:ext cx="338328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  <a:latin typeface="Calibri"/>
              </a:rPr>
              <a:t>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347472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Tonnage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379476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1A1A2E"/>
                </a:solidFill>
                <a:latin typeface="Calibri"/>
              </a:rPr>
              <a:t>≈ 0,7 Mt /an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5029200"/>
            <a:ext cx="338328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Cœur : Saint-Quentinois + Cambrésis + Aisne.
Issue de la fusion Advitam × Cap Seine.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Trois maillages géographiquement contigus → potentiel de consolidation à analyser.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02  Méthode d'identification des doublons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143000"/>
            <a:ext cx="2286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Calibri"/>
              </a:rPr>
              <a:t>Localisation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143000"/>
            <a:ext cx="77724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Géocodage GPS des silos via SIRENE + données internes Noriap (Collecte BASE, 960 833 mvts R20–R25).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194560"/>
            <a:ext cx="640080" cy="640080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48840"/>
            <a:ext cx="2286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Calibri"/>
              </a:rPr>
              <a:t>Mesure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148840"/>
            <a:ext cx="77724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Pour chaque silo Noriap actif R25, distance orthodromique aux silos Unéal et Ternoveo les plus proches.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3200400"/>
            <a:ext cx="640080" cy="640080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20040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154680"/>
            <a:ext cx="2286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Calibri"/>
              </a:rPr>
              <a:t>Seuils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154680"/>
            <a:ext cx="77724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Doublon « large » à &lt;7 km (zone de chalandise typique).
Doublon « strict » à &lt;5 km (chevauchement intense).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206240"/>
            <a:ext cx="640080" cy="640080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20624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160520"/>
            <a:ext cx="2286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Calibri"/>
              </a:rPr>
              <a:t>Quantification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160520"/>
            <a:ext cx="77724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Croisement avec le tonnage R25 effectif Noriap → identification des doublons à fort impact financier.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5212080"/>
            <a:ext cx="640080" cy="640080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212080"/>
            <a:ext cx="6400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166360"/>
            <a:ext cx="2286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Calibri"/>
              </a:rPr>
              <a:t>Limites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166360"/>
            <a:ext cx="77724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38 silos Unéal sur ~125 actifs (GPS précis API).
Économies estimées : 350 k€/an de charges fixes par site fermé (à valider Direction Financière).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03  Chiffres-clés — Ce que pèse la rationalisation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723603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723603" cy="6000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244928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SITES CUMULÉS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2449283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Calibri"/>
              </a:rPr>
              <a:t>240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2449283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157 Noriap • 38 Unéal • 45 Ternoveo</a:t>
            </a:r>
          </a:p>
        </p:txBody>
      </p:sp>
      <p:sp>
        <p:nvSpPr>
          <p:cNvPr id="9" name="Rectangle 8"/>
          <p:cNvSpPr/>
          <p:nvPr/>
        </p:nvSpPr>
        <p:spPr>
          <a:xfrm>
            <a:off x="3230803" y="1188720"/>
            <a:ext cx="2723603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30803" y="1188720"/>
            <a:ext cx="2723603" cy="600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1325880"/>
            <a:ext cx="244928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DOUBLONS &lt; 7 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3683" y="1691640"/>
            <a:ext cx="2449283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Calibri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3683" y="2926080"/>
            <a:ext cx="2449283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8 avec Unéal • 17 avec Ternoveo • 3 sur les deux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04406" y="1188720"/>
            <a:ext cx="2723603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04406" y="1188720"/>
            <a:ext cx="2723603" cy="60000"/>
          </a:xfrm>
          <a:prstGeom prst="rect">
            <a:avLst/>
          </a:prstGeom>
          <a:solidFill>
            <a:srgbClr val="E60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7286" y="1325880"/>
            <a:ext cx="244928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TONNAGE R25 EN DOUBLON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6" y="1691640"/>
            <a:ext cx="2449283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Calibri"/>
              </a:rPr>
              <a:t>129 kt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6" y="2926080"/>
            <a:ext cx="2449283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Soit 12.3% du tonnage R25 total Noriap (1053 kt)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009" y="1188720"/>
            <a:ext cx="2723603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009" y="1188720"/>
            <a:ext cx="2723603" cy="60000"/>
          </a:xfrm>
          <a:prstGeom prst="rect">
            <a:avLst/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0889" y="1325880"/>
            <a:ext cx="244928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ÉCONOMIES POTENTIELLES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0889" y="1691640"/>
            <a:ext cx="2449283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Calibri"/>
              </a:rPr>
              <a:t>7.7 M€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0889" y="2926080"/>
            <a:ext cx="2449283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/an — hypothèse 350 k€/site fermé. À valider DF.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931920"/>
            <a:ext cx="11277295" cy="246888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931920"/>
            <a:ext cx="137160" cy="2468880"/>
          </a:xfrm>
          <a:prstGeom prst="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114800"/>
            <a:ext cx="10820095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9C27B0"/>
                </a:solidFill>
                <a:latin typeface="Calibri"/>
              </a:rPr>
              <a:t>INSIGHT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434840"/>
            <a:ext cx="10820095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600" b="1">
                <a:solidFill>
                  <a:srgbClr val="1A1A2E"/>
                </a:solidFill>
                <a:latin typeface="Calibri"/>
              </a:rPr>
              <a:t>3 silos en triple recouvrement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212080"/>
            <a:ext cx="10820095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Ces sites sont à &lt;7 km d'un silo Unéal ET d'un silo Ternoveo. Ce sont les plus exposés à la concurrence locale et probablement les plus attaquables sur un scénario de fusion.
Nb : un doublon ≠ une fermeture automatique. Vérifier filière, capacité, état du silo, base adhérents.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04  Top doublons à arbitrer en priorité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Tri par tonnage R25 décroissant — les plus gros impacts financiers en haut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36576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256032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SILO NORIAP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280160"/>
            <a:ext cx="173736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TONNAGE R25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280160"/>
            <a:ext cx="10058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280160"/>
            <a:ext cx="164592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CONCURRENT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1280160"/>
            <a:ext cx="265176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(commune)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1280160"/>
            <a:ext cx="118872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DIST.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91640"/>
            <a:ext cx="11277295" cy="329184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91640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BELLE ASSISE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1691640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23 099 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0" y="1755648"/>
            <a:ext cx="777240" cy="201168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1755648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Ternoveo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1691640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MONTDIDIER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1691640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5.42 km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020824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FLEURY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2020824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19 978 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37760" y="2084832"/>
            <a:ext cx="777240" cy="201168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0" y="2084832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Ternoveo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020824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BRASSY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2020824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6.86 km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350008"/>
            <a:ext cx="11277295" cy="329184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350008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MONTDIDIER NORIAP floury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350008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12 141 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0" y="2414016"/>
            <a:ext cx="777240" cy="201168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37760" y="2414016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Ternoveo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2350008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MONTDIDIER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2350008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1.46 km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2679192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POIX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2679192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11 190 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37760" y="2743200"/>
            <a:ext cx="777240" cy="201168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37760" y="2743200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Ternoveo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2679192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BRASSY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2679192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6.42 km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008376"/>
            <a:ext cx="11277295" cy="329184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008376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AVESNES LES BAPAUME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3008376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9 921 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0" y="3072384"/>
            <a:ext cx="777240" cy="201168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37760" y="3072384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Ternoveo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79" y="3008376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ACHIET-LE-PETIT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49840" y="3008376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6.37 km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3337560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LA NEUVILLE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3337560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9 617 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0" y="3401568"/>
            <a:ext cx="777240" cy="201168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37760" y="3401568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Ternoveo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79" y="3337560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DOMPIERRE-BECQUINCOURT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49840" y="3337560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4.8 km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3666744"/>
            <a:ext cx="11277295" cy="329184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3666744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PIHEM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08960" y="3666744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6 611 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7760" y="3730752"/>
            <a:ext cx="777240" cy="201168"/>
          </a:xfrm>
          <a:prstGeom prst="round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937760" y="3730752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 + 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79" y="3666744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DELETTES / THEROUANNE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49840" y="3666744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4.99 / 6.36 km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3995928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SOCX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08960" y="3995928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6 074 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0" y="4059936"/>
            <a:ext cx="777240" cy="201168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37760" y="4059936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Ternoveo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98079" y="3995928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BIERNE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49840" y="3995928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2.08 km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4325112"/>
            <a:ext cx="11277295" cy="329184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4325112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BEAUDEDUIT PLAINE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08960" y="4325112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6 052 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937760" y="4389120"/>
            <a:ext cx="777240" cy="201168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937760" y="4389120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Ternoveo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98079" y="4325112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BRASSY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49840" y="4325112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6.14 km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4654296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GUINES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08960" y="4654296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5 212 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937760" y="4718304"/>
            <a:ext cx="777240" cy="201168"/>
          </a:xfrm>
          <a:prstGeom prst="round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37760" y="4718304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Unéal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98079" y="4654296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CAFFIERS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49840" y="4654296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4.06 km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4983480"/>
            <a:ext cx="11277295" cy="329184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8640" y="4983480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LAMBRES-LEZ-AIRE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108960" y="4983480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5 196 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937760" y="5047488"/>
            <a:ext cx="777240" cy="201168"/>
          </a:xfrm>
          <a:prstGeom prst="round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37760" y="5047488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Unéal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79" y="4983480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AIRE SUR LA LYS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149840" y="4983480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1.52 km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640" y="5312664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LOOBERGHE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108960" y="5312664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3 914 t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937760" y="5376672"/>
            <a:ext cx="777240" cy="201168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937760" y="5376672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Ternoveo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98079" y="5312664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BIERNE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149840" y="5312664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0.92 km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57200" y="5641848"/>
            <a:ext cx="11277295" cy="329184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8640" y="5641848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OYE PLAGE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108960" y="5641848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3 670 t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937760" y="5705856"/>
            <a:ext cx="777240" cy="201168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937760" y="5705856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Ternoveo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498079" y="5641848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VIEILLE-EGLISE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149840" y="5641848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6.57 km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48640" y="5971032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GONNEHEM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108960" y="5971032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1 875 t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937760" y="6035040"/>
            <a:ext cx="777240" cy="201168"/>
          </a:xfrm>
          <a:prstGeom prst="round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937760" y="6035040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 + 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498079" y="5971032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ESSARS / BUSNES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49840" y="5971032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4.55 / 5.19 km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57200" y="6300216"/>
            <a:ext cx="11277295" cy="329184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48640" y="6300216"/>
            <a:ext cx="25603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FLEURBAIX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108960" y="6300216"/>
            <a:ext cx="17373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1 773 t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937760" y="6364224"/>
            <a:ext cx="777240" cy="201168"/>
          </a:xfrm>
          <a:prstGeom prst="round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937760" y="6364224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Unéal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498079" y="6300216"/>
            <a:ext cx="2651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LAVENTIE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49840" y="6300216"/>
            <a:ext cx="118872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6.42 km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05  Cartographie interactive — zones de chevauchement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4114800"/>
          </a:xfrm>
          <a:prstGeom prst="rect">
            <a:avLst/>
          </a:prstGeom>
          <a:solidFill>
            <a:srgbClr val="F4F4F6"/>
          </a:solidFill>
          <a:ln>
            <a:solidFill>
              <a:srgbClr val="B0B0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Calibri"/>
              </a:rPr>
              <a:t>[ Insérer ici une capture d'écran de la carte interactive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11277295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Filtrer pour ne montrer que les buffers Noriap + Unéal + Ternoveo, et la zone d'intersection.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669280"/>
            <a:ext cx="4572000" cy="640080"/>
          </a:xfrm>
          <a:prstGeom prst="round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669280"/>
            <a:ext cx="45720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→ https://bohg59.github.io/zone-flandres-carte/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5669280"/>
            <a:ext cx="64008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Carte vivante : marqueurs colorés par coop, taille ∝ tonnage R25 Noriap, popups détaillées par silo.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06  Recommandations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37160" cy="91440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Arbitrer en priorité les 3 silos en triple recouvrement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3 sites Noriap sont à &lt;7 km d'un Unéal ET d'un Ternoveo. Décision la plus rapide à instruire.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137160" cy="9144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Lancer un audit 12 mois sur les 22 sites en doublon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Collecte effective, partage adhérents, état des silos, capacité résiduelle, coût d'entretien. Ne pas décider à froid sur la seule distance.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00400"/>
            <a:ext cx="137160" cy="9144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2461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Préserver les silos canaux (logistique fluviale)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66160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Indépendamment des doublons : la logistique canal = avantage différenciant à conserver.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06240"/>
            <a:ext cx="137160" cy="91440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25196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Compléter la donnée Unéal manquante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72000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38 silos avec GPS précis sur ~125 actifs. Demande directe ou enrichissement par adresses.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212080"/>
            <a:ext cx="137160" cy="914400"/>
          </a:xfrm>
          <a:prstGeom prst="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5780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Étudier les zones blanches (sans recouvrement)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Opportunité de redéploiement plutôt que fermeture pure : redirection des silos fermés vers des bassins peu couverts.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07  Sources &amp; annexes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Calibri"/>
              </a:rPr>
              <a:t>Sources de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0972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Calibri"/>
              </a:rPr>
              <a:t>• SIRENE / annuaire-entreprises.data.gouv.fr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9728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Localisation des établissements actifs (SIREN Noriap 330189028, Unéal 385110234, Ternoveo 301521928).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10972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Calibri"/>
              </a:rPr>
              <a:t>• Collecte BASE Noriap — fichier interne du 4 mai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109728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Tonnage R25, livreurs uniques, ventilation par espèce (BLE / BLE DUR), 960 833 mouvements scannés.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10972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Calibri"/>
              </a:rPr>
              <a:t>• API Base Adresse Nationale (api-adresse.data.gouv.fr)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57600"/>
            <a:ext cx="109728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Géocodage des adresses (171/215 sites Noriap+Flandre à l'adresse précise, complément par centroïde commune).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60520"/>
            <a:ext cx="10972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Calibri"/>
              </a:rPr>
              <a:t>• RPG 2024 (Geoplateforme IGN)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80560"/>
            <a:ext cx="109728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Surface blé (BTH/BTP/BDH/BDP) attribuée par Voronoï à 7 km autour des silos Noriap.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12064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Calibri"/>
              </a:rPr>
              <a:t>Hypothèses &amp; limites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532120"/>
            <a:ext cx="1097280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•  Le seuil de 7 km est une convention (rayon de chalandise typique). Un doublon ≠ une fermeture mécanique.
•  Le coût annuel d'un site fermé (350 k€) est une estimation à valider par la Direction Financière.
•  Données Unéal partielles (38/125 silos avec GPS précis) — chiffres « doublons U » à considérer comme plancher.
•  Logistique fluviale, contraintes filières (bio, semences) et engagements adhérents non modélisés dans cette V1.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