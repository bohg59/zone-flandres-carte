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"/>
            <a:ext cx="137160" cy="2011680"/>
          </a:xfrm>
          <a:prstGeom prst="rect">
            <a:avLst/>
          </a:prstGeom>
          <a:solidFill>
            <a:srgbClr val="FFD1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73152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FFD166"/>
                </a:solidFill>
                <a:latin typeface="Calibri"/>
              </a:rPr>
              <a:t>NOTE STRATÉGIQUE — DIRECTION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1463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Calibri"/>
              </a:rPr>
              <a:t>Fusion </a:t>
            </a:r>
            <a:r>
              <a:rPr sz="4800" b="1">
                <a:solidFill>
                  <a:srgbClr val="FFD166"/>
                </a:solidFill>
                <a:latin typeface="Calibri"/>
              </a:rPr>
              <a:t>Noriap</a:t>
            </a:r>
            <a:r>
              <a:rPr sz="4800" b="1">
                <a:solidFill>
                  <a:srgbClr val="FFFFFF"/>
                </a:solidFill>
                <a:latin typeface="Calibri"/>
              </a:rPr>
              <a:t> × </a:t>
            </a:r>
            <a:r>
              <a:rPr sz="4800" b="1">
                <a:solidFill>
                  <a:srgbClr val="06D6A0"/>
                </a:solidFill>
                <a:latin typeface="Calibri"/>
              </a:rPr>
              <a:t>Unéal</a:t>
            </a:r>
            <a:r>
              <a:rPr sz="4800" b="1">
                <a:solidFill>
                  <a:srgbClr val="FFFFFF"/>
                </a:solidFill>
                <a:latin typeface="Calibri"/>
              </a:rPr>
              <a:t> × </a:t>
            </a:r>
            <a:r>
              <a:rPr sz="4800" b="1">
                <a:solidFill>
                  <a:srgbClr val="7EB6FF"/>
                </a:solidFill>
                <a:latin typeface="Calibri"/>
              </a:rPr>
              <a:t>Ternoveo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51760"/>
            <a:ext cx="1097280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Analyse de rationalisation des sites de collecte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00400"/>
            <a:ext cx="109728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B0B0B8"/>
                </a:solidFill>
                <a:latin typeface="Calibri"/>
              </a:rPr>
              <a:t>Hauts-de-France — Périmètre des 3 entités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206240"/>
            <a:ext cx="320040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4400" b="1">
                <a:solidFill>
                  <a:srgbClr val="FFD166"/>
                </a:solidFill>
                <a:latin typeface="Calibri"/>
              </a:rPr>
              <a:t>345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074920"/>
            <a:ext cx="32004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sites au total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4206240"/>
            <a:ext cx="320040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4400" b="1">
                <a:solidFill>
                  <a:srgbClr val="FFD166"/>
                </a:solidFill>
                <a:latin typeface="Calibri"/>
              </a:rPr>
              <a:t>43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5074920"/>
            <a:ext cx="32004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doublons identifiés (&lt;7 km)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0" y="4206240"/>
            <a:ext cx="320040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4400" b="1">
                <a:solidFill>
                  <a:srgbClr val="FFD166"/>
                </a:solidFill>
                <a:latin typeface="Calibri"/>
              </a:rPr>
              <a:t>15.1 M€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5074920"/>
            <a:ext cx="32004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économies potentielles / 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B0B0B8"/>
                </a:solidFill>
                <a:latin typeface="Calibri"/>
              </a:rPr>
              <a:t>22/05/2026 — Source : SIRENE / Collecte interne Noriap / RPG 2024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01  Les 3 acteurs sur la zone Hauts-de-France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3657600" cy="5029200"/>
          </a:xfrm>
          <a:prstGeom prst="rect">
            <a:avLst/>
          </a:prstGeom>
          <a:solidFill>
            <a:srgbClr val="FFFFFF"/>
          </a:solidFill>
          <a:ln w="25400">
            <a:solidFill>
              <a:srgbClr val="E600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3657600" cy="640080"/>
          </a:xfrm>
          <a:prstGeom prst="rect">
            <a:avLst/>
          </a:prstGeom>
          <a:solidFill>
            <a:srgbClr val="E60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07592"/>
            <a:ext cx="338328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Noriap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338328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Calibri"/>
              </a:rPr>
              <a:t>Sites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23160"/>
            <a:ext cx="338328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600" b="1">
                <a:solidFill>
                  <a:srgbClr val="1A1A2E"/>
                </a:solidFill>
                <a:latin typeface="Calibri"/>
              </a:rPr>
              <a:t>157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474720"/>
            <a:ext cx="33832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Calibri"/>
              </a:rPr>
              <a:t>Tonnage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94760"/>
            <a:ext cx="338328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000" b="1">
                <a:solidFill>
                  <a:srgbClr val="1A1A2E"/>
                </a:solidFill>
                <a:latin typeface="Calibri"/>
              </a:rPr>
              <a:t>1053 kt R25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029200"/>
            <a:ext cx="3383280" cy="10058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Calibri"/>
              </a:rPr>
              <a:t>Cœur : Picardie + Pays de Bray.
Extensions Flandres maritimes via La Flandre.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9120" y="1188720"/>
            <a:ext cx="3657600" cy="5029200"/>
          </a:xfrm>
          <a:prstGeom prst="rect">
            <a:avLst/>
          </a:prstGeom>
          <a:solidFill>
            <a:srgbClr val="FFFFFF"/>
          </a:solidFill>
          <a:ln w="25400">
            <a:solidFill>
              <a:srgbClr val="2CA0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1188720"/>
            <a:ext cx="3657600" cy="640080"/>
          </a:xfrm>
          <a:prstGeom prst="rect">
            <a:avLst/>
          </a:prstGeom>
          <a:solidFill>
            <a:srgbClr val="2CA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1307592"/>
            <a:ext cx="338328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Unéal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103120"/>
            <a:ext cx="338328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Calibri"/>
              </a:rPr>
              <a:t>Sites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423160"/>
            <a:ext cx="338328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600" b="1">
                <a:solidFill>
                  <a:srgbClr val="1A1A2E"/>
                </a:solidFill>
                <a:latin typeface="Calibri"/>
              </a:rPr>
              <a:t>143*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3474720"/>
            <a:ext cx="33832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Calibri"/>
              </a:rPr>
              <a:t>Tonnage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3794760"/>
            <a:ext cx="338328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000" b="1">
                <a:solidFill>
                  <a:srgbClr val="1A1A2E"/>
                </a:solidFill>
                <a:latin typeface="Calibri"/>
              </a:rPr>
              <a:t>≈ 1,2 Mt /an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5029200"/>
            <a:ext cx="3383280" cy="10058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Calibri"/>
              </a:rPr>
              <a:t>Cœur : Artois + Boulonnais.
* Sur 125 actifs estimés, données GPS précises pour 38.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321040" y="1188720"/>
            <a:ext cx="3657600" cy="5029200"/>
          </a:xfrm>
          <a:prstGeom prst="rect">
            <a:avLst/>
          </a:prstGeom>
          <a:solidFill>
            <a:srgbClr val="FFFFFF"/>
          </a:solidFill>
          <a:ln w="25400">
            <a:solidFill>
              <a:srgbClr val="1F77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321040" y="1188720"/>
            <a:ext cx="3657600" cy="640080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03920" y="1307592"/>
            <a:ext cx="338328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Ternoveo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2103120"/>
            <a:ext cx="338328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Calibri"/>
              </a:rPr>
              <a:t>Sites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0" y="2423160"/>
            <a:ext cx="338328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600" b="1">
                <a:solidFill>
                  <a:srgbClr val="1A1A2E"/>
                </a:solidFill>
                <a:latin typeface="Calibri"/>
              </a:rPr>
              <a:t>45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3474720"/>
            <a:ext cx="33832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Calibri"/>
              </a:rPr>
              <a:t>Tonnage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20" y="3794760"/>
            <a:ext cx="338328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000" b="1">
                <a:solidFill>
                  <a:srgbClr val="1A1A2E"/>
                </a:solidFill>
                <a:latin typeface="Calibri"/>
              </a:rPr>
              <a:t>≈ 0,7 Mt /an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5029200"/>
            <a:ext cx="3383280" cy="10058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Calibri"/>
              </a:rPr>
              <a:t>Cœur : Saint-Quentinois + Cambrésis + Aisne.
Issue de la fusion Advitam × Cap Seine.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Calibri"/>
              </a:rPr>
              <a:t>Trois maillages géographiquement contigus → potentiel de consolidation à analyser.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02  Méthode d'identification des doublons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188720"/>
            <a:ext cx="640080" cy="640080"/>
          </a:xfrm>
          <a:prstGeom prst="ellipse">
            <a:avLst/>
          </a:prstGeom>
          <a:solidFill>
            <a:srgbClr val="FFD1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64008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200" b="1">
                <a:solidFill>
                  <a:srgbClr val="1A1A2E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143000"/>
            <a:ext cx="22860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>
                <a:solidFill>
                  <a:srgbClr val="1A1A2E"/>
                </a:solidFill>
                <a:latin typeface="Calibri"/>
              </a:rPr>
              <a:t>Localisation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1143000"/>
            <a:ext cx="777240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Calibri"/>
              </a:rPr>
              <a:t>Géocodage GPS des silos via SIRENE + données internes Noriap (Collecte BASE, 960 833 mvts R20–R25).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194560"/>
            <a:ext cx="640080" cy="640080"/>
          </a:xfrm>
          <a:prstGeom prst="ellipse">
            <a:avLst/>
          </a:prstGeom>
          <a:solidFill>
            <a:srgbClr val="FFD1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194560"/>
            <a:ext cx="64008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200" b="1">
                <a:solidFill>
                  <a:srgbClr val="1A1A2E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148840"/>
            <a:ext cx="22860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>
                <a:solidFill>
                  <a:srgbClr val="1A1A2E"/>
                </a:solidFill>
                <a:latin typeface="Calibri"/>
              </a:rPr>
              <a:t>Mesure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2148840"/>
            <a:ext cx="777240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Calibri"/>
              </a:rPr>
              <a:t>Pour chaque silo Noriap actif R25, distance orthodromique aux silos Unéal et Ternoveo les plus proches.</a:t>
            </a:r>
          </a:p>
        </p:txBody>
      </p:sp>
      <p:sp>
        <p:nvSpPr>
          <p:cNvPr id="12" name="Oval 11"/>
          <p:cNvSpPr/>
          <p:nvPr/>
        </p:nvSpPr>
        <p:spPr>
          <a:xfrm>
            <a:off x="457200" y="3200400"/>
            <a:ext cx="640080" cy="640080"/>
          </a:xfrm>
          <a:prstGeom prst="ellipse">
            <a:avLst/>
          </a:prstGeom>
          <a:solidFill>
            <a:srgbClr val="FFD1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3200400"/>
            <a:ext cx="64008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200" b="1">
                <a:solidFill>
                  <a:srgbClr val="1A1A2E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154680"/>
            <a:ext cx="22860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>
                <a:solidFill>
                  <a:srgbClr val="1A1A2E"/>
                </a:solidFill>
                <a:latin typeface="Calibri"/>
              </a:rPr>
              <a:t>Seuils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3154680"/>
            <a:ext cx="777240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Calibri"/>
              </a:rPr>
              <a:t>Doublon « large » à &lt;7 km (zone de chalandise typique).
Doublon « strict » à &lt;5 km (chevauchement intense).</a:t>
            </a:r>
          </a:p>
        </p:txBody>
      </p:sp>
      <p:sp>
        <p:nvSpPr>
          <p:cNvPr id="16" name="Oval 15"/>
          <p:cNvSpPr/>
          <p:nvPr/>
        </p:nvSpPr>
        <p:spPr>
          <a:xfrm>
            <a:off x="457200" y="4206240"/>
            <a:ext cx="640080" cy="640080"/>
          </a:xfrm>
          <a:prstGeom prst="ellipse">
            <a:avLst/>
          </a:prstGeom>
          <a:solidFill>
            <a:srgbClr val="FFD1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206240"/>
            <a:ext cx="64008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200" b="1">
                <a:solidFill>
                  <a:srgbClr val="1A1A2E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160520"/>
            <a:ext cx="22860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>
                <a:solidFill>
                  <a:srgbClr val="1A1A2E"/>
                </a:solidFill>
                <a:latin typeface="Calibri"/>
              </a:rPr>
              <a:t>Quantification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0" y="4160520"/>
            <a:ext cx="777240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Calibri"/>
              </a:rPr>
              <a:t>Croisement avec le tonnage R25 effectif Noriap → identification des doublons à fort impact financier.</a:t>
            </a:r>
          </a:p>
        </p:txBody>
      </p:sp>
      <p:sp>
        <p:nvSpPr>
          <p:cNvPr id="20" name="Oval 19"/>
          <p:cNvSpPr/>
          <p:nvPr/>
        </p:nvSpPr>
        <p:spPr>
          <a:xfrm>
            <a:off x="457200" y="5212080"/>
            <a:ext cx="640080" cy="640080"/>
          </a:xfrm>
          <a:prstGeom prst="ellipse">
            <a:avLst/>
          </a:prstGeom>
          <a:solidFill>
            <a:srgbClr val="FFD1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5212080"/>
            <a:ext cx="64008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200" b="1">
                <a:solidFill>
                  <a:srgbClr val="1A1A2E"/>
                </a:solidFill>
                <a:latin typeface="Calibri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5166360"/>
            <a:ext cx="22860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>
                <a:solidFill>
                  <a:srgbClr val="1A1A2E"/>
                </a:solidFill>
                <a:latin typeface="Calibri"/>
              </a:rPr>
              <a:t>Limites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0" y="5166360"/>
            <a:ext cx="777240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Calibri"/>
              </a:rPr>
              <a:t>38 silos Unéal sur ~125 actifs (GPS précis API).
Économies estimées : 350 k€/an de charges fixes par site fermé (à valider Direction Financière).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03  Chiffres-clés — Ce que pèse la rationalisation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2723603" cy="228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2723603" cy="60000"/>
          </a:xfrm>
          <a:prstGeom prst="rect">
            <a:avLst/>
          </a:prstGeom>
          <a:solidFill>
            <a:srgbClr val="FFD1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2449283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666666"/>
                </a:solidFill>
                <a:latin typeface="Calibri"/>
              </a:rPr>
              <a:t>SITES CUMULÉS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2449283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4000" b="1">
                <a:solidFill>
                  <a:srgbClr val="1A1A2E"/>
                </a:solidFill>
                <a:latin typeface="Calibri"/>
              </a:rPr>
              <a:t>345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926080"/>
            <a:ext cx="2449283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Calibri"/>
              </a:rPr>
              <a:t>157 Noriap • 143 Unéal • 45 Ternoveo</a:t>
            </a:r>
          </a:p>
        </p:txBody>
      </p:sp>
      <p:sp>
        <p:nvSpPr>
          <p:cNvPr id="9" name="Rectangle 8"/>
          <p:cNvSpPr/>
          <p:nvPr/>
        </p:nvSpPr>
        <p:spPr>
          <a:xfrm>
            <a:off x="3230803" y="1188720"/>
            <a:ext cx="2723603" cy="228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30803" y="1188720"/>
            <a:ext cx="2723603" cy="60000"/>
          </a:xfrm>
          <a:prstGeom prst="rect">
            <a:avLst/>
          </a:prstGeom>
          <a:solidFill>
            <a:srgbClr val="FF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13683" y="1325880"/>
            <a:ext cx="2449283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666666"/>
                </a:solidFill>
                <a:latin typeface="Calibri"/>
              </a:rPr>
              <a:t>DOUBLONS &lt; 7 KM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13683" y="1691640"/>
            <a:ext cx="2449283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4000" b="1">
                <a:solidFill>
                  <a:srgbClr val="1A1A2E"/>
                </a:solidFill>
                <a:latin typeface="Calibri"/>
              </a:rPr>
              <a:t>43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13683" y="2926080"/>
            <a:ext cx="2449283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Calibri"/>
              </a:rPr>
              <a:t>34 avec Unéal • 17 avec Ternoveo • 8 sur les deux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04406" y="1188720"/>
            <a:ext cx="2723603" cy="228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04406" y="1188720"/>
            <a:ext cx="2723603" cy="60000"/>
          </a:xfrm>
          <a:prstGeom prst="rect">
            <a:avLst/>
          </a:prstGeom>
          <a:solidFill>
            <a:srgbClr val="E60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87286" y="1325880"/>
            <a:ext cx="2449283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666666"/>
                </a:solidFill>
                <a:latin typeface="Calibri"/>
              </a:rPr>
              <a:t>TONNAGE R25 EN DOUBLON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87286" y="1691640"/>
            <a:ext cx="2449283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4000" b="1">
                <a:solidFill>
                  <a:srgbClr val="1A1A2E"/>
                </a:solidFill>
                <a:latin typeface="Calibri"/>
              </a:rPr>
              <a:t>211 kt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87286" y="2926080"/>
            <a:ext cx="2449283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Calibri"/>
              </a:rPr>
              <a:t>Soit 20.1% du tonnage R25 total Noriap (1053 kt)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778009" y="1188720"/>
            <a:ext cx="2723603" cy="228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778009" y="1188720"/>
            <a:ext cx="2723603" cy="60000"/>
          </a:xfrm>
          <a:prstGeom prst="rect">
            <a:avLst/>
          </a:prstGeom>
          <a:solidFill>
            <a:srgbClr val="06D6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0889" y="1325880"/>
            <a:ext cx="2449283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666666"/>
                </a:solidFill>
                <a:latin typeface="Calibri"/>
              </a:rPr>
              <a:t>ÉCONOMIES POTENTIELLES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0889" y="1691640"/>
            <a:ext cx="2449283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4000" b="1">
                <a:solidFill>
                  <a:srgbClr val="1A1A2E"/>
                </a:solidFill>
                <a:latin typeface="Calibri"/>
              </a:rPr>
              <a:t>15.1 M€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0889" y="2926080"/>
            <a:ext cx="2449283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Calibri"/>
              </a:rPr>
              <a:t>/an — hypothèse 350 k€/site fermé. À valider DF.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931920"/>
            <a:ext cx="11277295" cy="2468880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3931920"/>
            <a:ext cx="137160" cy="2468880"/>
          </a:xfrm>
          <a:prstGeom prst="rect">
            <a:avLst/>
          </a:prstGeom>
          <a:solidFill>
            <a:srgbClr val="9C2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4114800"/>
            <a:ext cx="10820095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9C27B0"/>
                </a:solidFill>
                <a:latin typeface="Calibri"/>
              </a:rPr>
              <a:t>INSIGHT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4434840"/>
            <a:ext cx="10820095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600" b="1">
                <a:solidFill>
                  <a:srgbClr val="1A1A2E"/>
                </a:solidFill>
                <a:latin typeface="Calibri"/>
              </a:rPr>
              <a:t>8 silos en triple recouvrement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5212080"/>
            <a:ext cx="10820095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Calibri"/>
              </a:rPr>
              <a:t>Ces sites sont à &lt;7 km d'un silo Unéal ET d'un silo Ternoveo. Ce sont les plus exposés à la concurrence locale et probablement les plus attaquables sur un scénario de fusion.
Nb : un doublon ≠ une fermeture automatique. Vérifier filière, capacité, état du silo, base adhérents.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04  Top doublons à arbitrer en priorité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0972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Calibri"/>
              </a:rPr>
              <a:t>Tri par tonnage R25 décroissant — les plus gros impacts financiers en haut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77295" cy="36576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256032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SILO NORIAP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1280160"/>
            <a:ext cx="173736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TONNAGE R25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0" y="1280160"/>
            <a:ext cx="100584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TYPE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0" y="1280160"/>
            <a:ext cx="164592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CONCURRENT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9" y="1280160"/>
            <a:ext cx="265176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(commune)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49840" y="1280160"/>
            <a:ext cx="118872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DIST.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691640"/>
            <a:ext cx="11277295" cy="329184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1691640"/>
            <a:ext cx="256032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>
                <a:solidFill>
                  <a:srgbClr val="1A1A2E"/>
                </a:solidFill>
                <a:latin typeface="Calibri"/>
              </a:rPr>
              <a:t>BELLE ASSISE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1691640"/>
            <a:ext cx="17373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23 099 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937760" y="1755648"/>
            <a:ext cx="777240" cy="201168"/>
          </a:xfrm>
          <a:prstGeom prst="round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37760" y="1755648"/>
            <a:ext cx="777240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Ternoveo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79" y="1691640"/>
            <a:ext cx="26517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Calibri"/>
              </a:rPr>
              <a:t>MONTDIDIER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49840" y="1691640"/>
            <a:ext cx="118872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Calibri"/>
              </a:rPr>
              <a:t>5.42 km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2020824"/>
            <a:ext cx="256032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>
                <a:solidFill>
                  <a:srgbClr val="1A1A2E"/>
                </a:solidFill>
                <a:latin typeface="Calibri"/>
              </a:rPr>
              <a:t>SENALIA NORIAP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0" y="2020824"/>
            <a:ext cx="17373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21 893 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937760" y="2084832"/>
            <a:ext cx="777240" cy="201168"/>
          </a:xfrm>
          <a:prstGeom prst="roundRect">
            <a:avLst/>
          </a:prstGeom>
          <a:solidFill>
            <a:srgbClr val="2CA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37760" y="2084832"/>
            <a:ext cx="777240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Unéal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79" y="2020824"/>
            <a:ext cx="26517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Calibri"/>
              </a:rPr>
              <a:t>GRAND-COURONNE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49840" y="2020824"/>
            <a:ext cx="118872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Calibri"/>
              </a:rPr>
              <a:t>1.72 km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2350008"/>
            <a:ext cx="11277295" cy="329184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2350008"/>
            <a:ext cx="256032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>
                <a:solidFill>
                  <a:srgbClr val="1A1A2E"/>
                </a:solidFill>
                <a:latin typeface="Calibri"/>
              </a:rPr>
              <a:t>FLEURY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08960" y="2350008"/>
            <a:ext cx="17373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19 978 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937760" y="2414016"/>
            <a:ext cx="777240" cy="201168"/>
          </a:xfrm>
          <a:prstGeom prst="round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937760" y="2414016"/>
            <a:ext cx="777240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Ternoveo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79" y="2350008"/>
            <a:ext cx="26517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Calibri"/>
              </a:rPr>
              <a:t>BRASSY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149840" y="2350008"/>
            <a:ext cx="118872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Calibri"/>
              </a:rPr>
              <a:t>6.86 km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2679192"/>
            <a:ext cx="256032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>
                <a:solidFill>
                  <a:srgbClr val="1A1A2E"/>
                </a:solidFill>
                <a:latin typeface="Calibri"/>
              </a:rPr>
              <a:t>MONTDIDIER NORIAP floury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108960" y="2679192"/>
            <a:ext cx="17373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12 141 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937760" y="2743200"/>
            <a:ext cx="777240" cy="201168"/>
          </a:xfrm>
          <a:prstGeom prst="round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937760" y="2743200"/>
            <a:ext cx="777240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Ternoveo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98079" y="2679192"/>
            <a:ext cx="26517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Calibri"/>
              </a:rPr>
              <a:t>MONTDIDIER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149840" y="2679192"/>
            <a:ext cx="118872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Calibri"/>
              </a:rPr>
              <a:t>1.46 km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3008376"/>
            <a:ext cx="11277295" cy="329184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8640" y="3008376"/>
            <a:ext cx="256032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>
                <a:solidFill>
                  <a:srgbClr val="1A1A2E"/>
                </a:solidFill>
                <a:latin typeface="Calibri"/>
              </a:rPr>
              <a:t>POIX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108960" y="3008376"/>
            <a:ext cx="17373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11 190 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937760" y="3072384"/>
            <a:ext cx="777240" cy="201168"/>
          </a:xfrm>
          <a:prstGeom prst="round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937760" y="3072384"/>
            <a:ext cx="777240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Ternoveo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98079" y="3008376"/>
            <a:ext cx="26517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Calibri"/>
              </a:rPr>
              <a:t>BRASSY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149840" y="3008376"/>
            <a:ext cx="118872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Calibri"/>
              </a:rPr>
              <a:t>6.42 km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3337560"/>
            <a:ext cx="256032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>
                <a:solidFill>
                  <a:srgbClr val="1A1A2E"/>
                </a:solidFill>
                <a:latin typeface="Calibri"/>
              </a:rPr>
              <a:t>MARQUISE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108960" y="3337560"/>
            <a:ext cx="17373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11 050 t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937760" y="3401568"/>
            <a:ext cx="777240" cy="201168"/>
          </a:xfrm>
          <a:prstGeom prst="roundRect">
            <a:avLst/>
          </a:prstGeom>
          <a:solidFill>
            <a:srgbClr val="2CA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937760" y="3401568"/>
            <a:ext cx="777240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Unéal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498079" y="3337560"/>
            <a:ext cx="26517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Calibri"/>
              </a:rPr>
              <a:t>MARQUISE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149840" y="3337560"/>
            <a:ext cx="118872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Calibri"/>
              </a:rPr>
              <a:t>1.11 km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57200" y="3666744"/>
            <a:ext cx="11277295" cy="329184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48640" y="3666744"/>
            <a:ext cx="256032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>
                <a:solidFill>
                  <a:srgbClr val="1A1A2E"/>
                </a:solidFill>
                <a:latin typeface="Calibri"/>
              </a:rPr>
              <a:t>AVESNES LES BAPAUME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108960" y="3666744"/>
            <a:ext cx="17373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9 921 t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937760" y="3730752"/>
            <a:ext cx="777240" cy="201168"/>
          </a:xfrm>
          <a:prstGeom prst="roundRect">
            <a:avLst/>
          </a:prstGeom>
          <a:solidFill>
            <a:srgbClr val="9C2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937760" y="3730752"/>
            <a:ext cx="777240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U + 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498079" y="3666744"/>
            <a:ext cx="26517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Calibri"/>
              </a:rPr>
              <a:t>AVESNES-LES-BAPAUME / ACHIET-LE-PETIT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149840" y="3666744"/>
            <a:ext cx="118872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Calibri"/>
              </a:rPr>
              <a:t>0.94 / 6.37 km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48640" y="3995928"/>
            <a:ext cx="256032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>
                <a:solidFill>
                  <a:srgbClr val="1A1A2E"/>
                </a:solidFill>
                <a:latin typeface="Calibri"/>
              </a:rPr>
              <a:t>NOYELLES EN CHAUSSEE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108960" y="3995928"/>
            <a:ext cx="17373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9 662 t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4937760" y="4059936"/>
            <a:ext cx="777240" cy="201168"/>
          </a:xfrm>
          <a:prstGeom prst="roundRect">
            <a:avLst/>
          </a:prstGeom>
          <a:solidFill>
            <a:srgbClr val="2CA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937760" y="4059936"/>
            <a:ext cx="777240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Unéal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498079" y="3995928"/>
            <a:ext cx="26517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Calibri"/>
              </a:rPr>
              <a:t>GUESCHART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149840" y="3995928"/>
            <a:ext cx="118872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Calibri"/>
              </a:rPr>
              <a:t>4.02 km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57200" y="4325112"/>
            <a:ext cx="11277295" cy="329184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48640" y="4325112"/>
            <a:ext cx="256032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>
                <a:solidFill>
                  <a:srgbClr val="1A1A2E"/>
                </a:solidFill>
                <a:latin typeface="Calibri"/>
              </a:rPr>
              <a:t>LA NEUVILLE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108960" y="4325112"/>
            <a:ext cx="17373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9 617 t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4937760" y="4389120"/>
            <a:ext cx="777240" cy="201168"/>
          </a:xfrm>
          <a:prstGeom prst="roundRect">
            <a:avLst/>
          </a:prstGeom>
          <a:solidFill>
            <a:srgbClr val="9C2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937760" y="4389120"/>
            <a:ext cx="777240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U + T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498079" y="4325112"/>
            <a:ext cx="26517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Calibri"/>
              </a:rPr>
              <a:t>LA NEUVILLE-LES-BRAY / DOMPIERRE-BECQUINCOURT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149840" y="4325112"/>
            <a:ext cx="118872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Calibri"/>
              </a:rPr>
              <a:t>3.04 / 4.8 km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48640" y="4654296"/>
            <a:ext cx="256032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>
                <a:solidFill>
                  <a:srgbClr val="1A1A2E"/>
                </a:solidFill>
                <a:latin typeface="Calibri"/>
              </a:rPr>
              <a:t>HOLQUE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108960" y="4654296"/>
            <a:ext cx="17373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6 870 t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4937760" y="4718304"/>
            <a:ext cx="777240" cy="201168"/>
          </a:xfrm>
          <a:prstGeom prst="roundRect">
            <a:avLst/>
          </a:prstGeom>
          <a:solidFill>
            <a:srgbClr val="2CA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937760" y="4718304"/>
            <a:ext cx="777240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Unéal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498079" y="4654296"/>
            <a:ext cx="26517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Calibri"/>
              </a:rPr>
              <a:t>CAPPELLE-BROUCK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149840" y="4654296"/>
            <a:ext cx="118872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Calibri"/>
              </a:rPr>
              <a:t>5.51 km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57200" y="4983480"/>
            <a:ext cx="11277295" cy="329184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48640" y="4983480"/>
            <a:ext cx="256032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>
                <a:solidFill>
                  <a:srgbClr val="1A1A2E"/>
                </a:solidFill>
                <a:latin typeface="Calibri"/>
              </a:rPr>
              <a:t>PIHEM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108960" y="4983480"/>
            <a:ext cx="17373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6 611 t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4937760" y="5047488"/>
            <a:ext cx="777240" cy="201168"/>
          </a:xfrm>
          <a:prstGeom prst="roundRect">
            <a:avLst/>
          </a:prstGeom>
          <a:solidFill>
            <a:srgbClr val="9C2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4937760" y="5047488"/>
            <a:ext cx="777240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U + T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498079" y="4983480"/>
            <a:ext cx="26517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Calibri"/>
              </a:rPr>
              <a:t>DELETTES / THEROUANNE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149840" y="4983480"/>
            <a:ext cx="118872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Calibri"/>
              </a:rPr>
              <a:t>4.99 / 6.36 km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48640" y="5312664"/>
            <a:ext cx="256032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>
                <a:solidFill>
                  <a:srgbClr val="1A1A2E"/>
                </a:solidFill>
                <a:latin typeface="Calibri"/>
              </a:rPr>
              <a:t>SOCX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108960" y="5312664"/>
            <a:ext cx="17373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6 074 t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4937760" y="5376672"/>
            <a:ext cx="777240" cy="201168"/>
          </a:xfrm>
          <a:prstGeom prst="roundRect">
            <a:avLst/>
          </a:prstGeom>
          <a:solidFill>
            <a:srgbClr val="9C2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4937760" y="5376672"/>
            <a:ext cx="777240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U + T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498079" y="5312664"/>
            <a:ext cx="26517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Calibri"/>
              </a:rPr>
              <a:t>ESQUELBECQ / BIERNE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149840" y="5312664"/>
            <a:ext cx="118872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Calibri"/>
              </a:rPr>
              <a:t>6.69 / 2.08 km</a:t>
            </a:r>
          </a:p>
        </p:txBody>
      </p:sp>
      <p:sp>
        <p:nvSpPr>
          <p:cNvPr id="90" name="Rectangle 89"/>
          <p:cNvSpPr/>
          <p:nvPr/>
        </p:nvSpPr>
        <p:spPr>
          <a:xfrm>
            <a:off x="457200" y="5641848"/>
            <a:ext cx="11277295" cy="329184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548640" y="5641848"/>
            <a:ext cx="256032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>
                <a:solidFill>
                  <a:srgbClr val="1A1A2E"/>
                </a:solidFill>
                <a:latin typeface="Calibri"/>
              </a:rPr>
              <a:t>BEAUDEDUIT PLAINE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3108960" y="5641848"/>
            <a:ext cx="17373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6 052 t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4937760" y="5705856"/>
            <a:ext cx="777240" cy="201168"/>
          </a:xfrm>
          <a:prstGeom prst="round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4937760" y="5705856"/>
            <a:ext cx="777240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Ternoveo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7498079" y="5641848"/>
            <a:ext cx="26517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Calibri"/>
              </a:rPr>
              <a:t>BRASSY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149840" y="5641848"/>
            <a:ext cx="118872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Calibri"/>
              </a:rPr>
              <a:t>6.14 km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548640" y="5971032"/>
            <a:ext cx="256032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>
                <a:solidFill>
                  <a:srgbClr val="1A1A2E"/>
                </a:solidFill>
                <a:latin typeface="Calibri"/>
              </a:rPr>
              <a:t>RUE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3108960" y="5971032"/>
            <a:ext cx="17373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5 422 t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4937760" y="6035040"/>
            <a:ext cx="777240" cy="201168"/>
          </a:xfrm>
          <a:prstGeom prst="roundRect">
            <a:avLst/>
          </a:prstGeom>
          <a:solidFill>
            <a:srgbClr val="2CA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4937760" y="6035040"/>
            <a:ext cx="777240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Unéal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7498079" y="5971032"/>
            <a:ext cx="26517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Calibri"/>
              </a:rPr>
              <a:t>FOREST-MONTIERS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0149840" y="5971032"/>
            <a:ext cx="118872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Calibri"/>
              </a:rPr>
              <a:t>5.76 km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457200" y="6300216"/>
            <a:ext cx="11277295" cy="329184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48640" y="6300216"/>
            <a:ext cx="256032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>
                <a:solidFill>
                  <a:srgbClr val="1A1A2E"/>
                </a:solidFill>
                <a:latin typeface="Calibri"/>
              </a:rPr>
              <a:t>GUINES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3108960" y="6300216"/>
            <a:ext cx="17373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5 212 t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4937760" y="6364224"/>
            <a:ext cx="777240" cy="201168"/>
          </a:xfrm>
          <a:prstGeom prst="roundRect">
            <a:avLst/>
          </a:prstGeom>
          <a:solidFill>
            <a:srgbClr val="2CA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937760" y="6364224"/>
            <a:ext cx="777240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Unéal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7498079" y="6300216"/>
            <a:ext cx="26517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Calibri"/>
              </a:rPr>
              <a:t>CAFFIERS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0149840" y="6300216"/>
            <a:ext cx="118872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Calibri"/>
              </a:rPr>
              <a:t>4.06 km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05  Cartographie interactive — zones de chevauchement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1277295" cy="4114800"/>
          </a:xfrm>
          <a:prstGeom prst="rect">
            <a:avLst/>
          </a:prstGeom>
          <a:solidFill>
            <a:srgbClr val="F4F4F6"/>
          </a:solidFill>
          <a:ln>
            <a:solidFill>
              <a:srgbClr val="B0B0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1277295" cy="9144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0">
                <a:solidFill>
                  <a:srgbClr val="666666"/>
                </a:solidFill>
                <a:latin typeface="Calibri"/>
              </a:rPr>
              <a:t>[ Insérer ici une capture d'écran de la carte interactive 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91840"/>
            <a:ext cx="11277295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666666"/>
                </a:solidFill>
                <a:latin typeface="Calibri"/>
              </a:rPr>
              <a:t>Filtrer pour ne montrer que les buffers Noriap + Unéal + Ternoveo, et la zone d'intersection.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5669280"/>
            <a:ext cx="4572000" cy="640080"/>
          </a:xfrm>
          <a:prstGeom prst="roundRect">
            <a:avLst/>
          </a:prstGeom>
          <a:solidFill>
            <a:srgbClr val="FFD1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5669280"/>
            <a:ext cx="457200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300" b="1">
                <a:solidFill>
                  <a:srgbClr val="1A1A2E"/>
                </a:solidFill>
                <a:latin typeface="Calibri"/>
              </a:rPr>
              <a:t>→ https://bohg59.github.io/zone-flandres-carte/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0" y="5669280"/>
            <a:ext cx="640080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Calibri"/>
              </a:rPr>
              <a:t>Carte vivante : marqueurs colorés par coop, taille ∝ tonnage R25 Noriap, popups détaillées par silo.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06  Recommandations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37160" cy="914400"/>
          </a:xfrm>
          <a:prstGeom prst="rect">
            <a:avLst/>
          </a:prstGeom>
          <a:solidFill>
            <a:srgbClr val="FFD1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515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A1A2E"/>
                </a:solidFill>
                <a:latin typeface="Calibri"/>
              </a:rPr>
              <a:t>Arbitrer en priorité les 3 silos en triple recouvrement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1051560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Calibri"/>
              </a:rPr>
              <a:t>8 sites Noriap sont à &lt;7 km d'un Unéal ET d'un Ternoveo. Décision la plus rapide à instruire.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194560"/>
            <a:ext cx="137160" cy="914400"/>
          </a:xfrm>
          <a:prstGeom prst="rect">
            <a:avLst/>
          </a:prstGeom>
          <a:solidFill>
            <a:srgbClr val="FF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240280"/>
            <a:ext cx="10515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A1A2E"/>
                </a:solidFill>
                <a:latin typeface="Calibri"/>
              </a:rPr>
              <a:t>Lancer un audit 12 mois sur les 22 sites en doublon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60320"/>
            <a:ext cx="1051560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Calibri"/>
              </a:rPr>
              <a:t>Collecte effective, partage adhérents, état des silos, capacité résiduelle, coût d'entretien. Ne pas décider à froid sur la seule distance.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200400"/>
            <a:ext cx="137160" cy="914400"/>
          </a:xfrm>
          <a:prstGeom prst="rect">
            <a:avLst/>
          </a:prstGeom>
          <a:solidFill>
            <a:srgbClr val="2CA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246120"/>
            <a:ext cx="10515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A1A2E"/>
                </a:solidFill>
                <a:latin typeface="Calibri"/>
              </a:rPr>
              <a:t>Préserver les silos canaux (logistique fluviale)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566160"/>
            <a:ext cx="1051560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Calibri"/>
              </a:rPr>
              <a:t>Indépendamment des doublons : la logistique canal = avantage différenciant à conserver.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206240"/>
            <a:ext cx="137160" cy="914400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251960"/>
            <a:ext cx="10515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A1A2E"/>
                </a:solidFill>
                <a:latin typeface="Calibri"/>
              </a:rPr>
              <a:t>Compléter la donnée Unéal manquante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572000"/>
            <a:ext cx="1051560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Calibri"/>
              </a:rPr>
              <a:t>143 silos avec GPS précis sur ~125 actifs. Demande directe ou enrichissement par adresses.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5212080"/>
            <a:ext cx="137160" cy="914400"/>
          </a:xfrm>
          <a:prstGeom prst="rect">
            <a:avLst/>
          </a:prstGeom>
          <a:solidFill>
            <a:srgbClr val="9C2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5257800"/>
            <a:ext cx="10515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A1A2E"/>
                </a:solidFill>
                <a:latin typeface="Calibri"/>
              </a:rPr>
              <a:t>Étudier les zones blanches (sans recouvrement)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577840"/>
            <a:ext cx="1051560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Calibri"/>
              </a:rPr>
              <a:t>Opportunité de redéploiement plutôt que fermeture pure : redirection des silos fermés vers des bassins peu couverts.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07  Sources &amp; annexes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>
                <a:solidFill>
                  <a:srgbClr val="1A1A2E"/>
                </a:solidFill>
                <a:latin typeface="Calibri"/>
              </a:rPr>
              <a:t>Sources de données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91640"/>
            <a:ext cx="109728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1A1A2E"/>
                </a:solidFill>
                <a:latin typeface="Calibri"/>
              </a:rPr>
              <a:t>• SIRENE / annuaire-entreprises.data.gouv.fr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9728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Calibri"/>
              </a:rPr>
              <a:t>Localisation des établissements actifs (SIREN Noriap 330189028, Unéal 385110234, Ternoveo 301521928).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514600"/>
            <a:ext cx="109728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1A1A2E"/>
                </a:solidFill>
                <a:latin typeface="Calibri"/>
              </a:rPr>
              <a:t>• Collecte BASE Noriap — fichier interne du 4 mai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834640"/>
            <a:ext cx="109728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Calibri"/>
              </a:rPr>
              <a:t>Tonnage R25, livreurs uniques, ventilation par espèce (BLE / BLE DUR), 960 833 mouvements scannés.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337560"/>
            <a:ext cx="109728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1A1A2E"/>
                </a:solidFill>
                <a:latin typeface="Calibri"/>
              </a:rPr>
              <a:t>• API Base Adresse Nationale (api-adresse.data.gouv.fr)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657600"/>
            <a:ext cx="109728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Calibri"/>
              </a:rPr>
              <a:t>Géocodage des adresses (171/215 sites Noriap+Flandre à l'adresse précise, complément par centroïde commune).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160520"/>
            <a:ext cx="109728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1A1A2E"/>
                </a:solidFill>
                <a:latin typeface="Calibri"/>
              </a:rPr>
              <a:t>• RPG 2024 (Geoplateforme IGN)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480560"/>
            <a:ext cx="109728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Calibri"/>
              </a:rPr>
              <a:t>Surface blé (BTH/BTP/BDH/BDP) attribuée par Voronoï à 7 km autour des silos Noriap.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120640"/>
            <a:ext cx="109728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>
                <a:solidFill>
                  <a:srgbClr val="1A1A2E"/>
                </a:solidFill>
                <a:latin typeface="Calibri"/>
              </a:rPr>
              <a:t>Hypothèses &amp; limites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532120"/>
            <a:ext cx="10972800" cy="11887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Calibri"/>
              </a:rPr>
              <a:t>•  Le seuil de 7 km est une convention (rayon de chalandise typique). Un doublon ≠ une fermeture mécanique.
•  Le coût annuel d'un site fermé (350 k€) est une estimation à valider par la Direction Financière.
•  Données Unéal partielles (38/125 silos avec GPS précis) — chiffres « doublons U » à considérer comme plancher.
•  Logistique fluviale, contraintes filières (bio, semences) et engagements adhérents non modélisés dans cette V1.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